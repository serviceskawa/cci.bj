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65" r:id="rId3"/>
    <p:sldId id="259" r:id="rId4"/>
    <p:sldId id="270" r:id="rId5"/>
    <p:sldId id="277" r:id="rId6"/>
    <p:sldId id="280" r:id="rId7"/>
    <p:sldId id="283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owiy\Desktop\PARGeQ\S&amp;E%20PARGeQ\Base%20de%20donn&#233;es\Identification%20des_PME%20apur&#233;%20du_PARGeQ_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[Identification des_PME apuré du_PARGeQ_.xlsx]Feuil4!Tableau croisé dynamique3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r-FR" sz="3200" dirty="0">
                <a:latin typeface="Trebuchet MS" panose="020B0603020202020204" pitchFamily="34" charset="0"/>
              </a:rPr>
              <a:t>110 PME</a:t>
            </a:r>
            <a:endParaRPr lang="fr-DZ" sz="3200" dirty="0">
              <a:latin typeface="Trebuchet MS" panose="020B060302020202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spc="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spc="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spc="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Feuil4!$B$3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explosion val="8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7B02-418F-964F-8C043DD044C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7B02-418F-964F-8C043DD044CA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800" b="1" i="0" u="none" strike="noStrike" kern="1200" spc="0" baseline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232A0B9C-ECCB-4C68-9261-0C46FC9D6799}" type="CATEGORYNAME">
                      <a:rPr lang="en-US" sz="1800">
                        <a:latin typeface="Trebuchet MS" panose="020B0603020202020204" pitchFamily="34" charset="0"/>
                      </a:rPr>
                      <a:pPr>
                        <a:defRPr sz="1800"/>
                      </a:pPr>
                      <a:t>[NOM DE CATÉGORIE]</a:t>
                    </a:fld>
                    <a:r>
                      <a:rPr lang="en-US" sz="1800" baseline="0" dirty="0">
                        <a:latin typeface="Trebuchet MS" panose="020B0603020202020204" pitchFamily="34" charset="0"/>
                      </a:rPr>
                      <a:t>; </a:t>
                    </a:r>
                    <a:fld id="{750ADB52-6F80-4F29-A1C4-51DA0BBDE9F4}" type="VALUE">
                      <a:rPr lang="en-US" sz="1800" baseline="0" smtClean="0">
                        <a:latin typeface="Trebuchet MS" panose="020B0603020202020204" pitchFamily="34" charset="0"/>
                      </a:rPr>
                      <a:pPr>
                        <a:defRPr sz="1800"/>
                      </a:pPr>
                      <a:t>[VALEUR]</a:t>
                    </a:fld>
                    <a:r>
                      <a:rPr lang="en-US" sz="1800" baseline="0" dirty="0">
                        <a:latin typeface="Trebuchet MS" panose="020B0603020202020204" pitchFamily="34" charset="0"/>
                      </a:rPr>
                      <a:t>, </a:t>
                    </a:r>
                    <a:fld id="{ECC712FE-5C94-4CBB-A0A8-8C4041423A89}" type="PERCENTAGE">
                      <a:rPr lang="en-US" sz="1800" baseline="0">
                        <a:latin typeface="Trebuchet MS" panose="020B0603020202020204" pitchFamily="34" charset="0"/>
                      </a:rPr>
                      <a:pPr>
                        <a:defRPr sz="1800"/>
                      </a:pPr>
                      <a:t>[POURCENTAGE]</a:t>
                    </a:fld>
                    <a:endParaRPr lang="en-US" sz="1800" baseline="0" dirty="0">
                      <a:latin typeface="Trebuchet MS" panose="020B0603020202020204" pitchFamily="34" charset="0"/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8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7B02-418F-964F-8C043DD044CA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800" b="1" i="0" u="none" strike="noStrike" kern="1200" spc="0" baseline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1C0AE957-2D10-4E7A-8723-15647E6D0735}" type="CATEGORYNAME">
                      <a:rPr lang="en-US" sz="1800">
                        <a:latin typeface="Trebuchet MS" panose="020B0603020202020204" pitchFamily="34" charset="0"/>
                      </a:rPr>
                      <a:pPr>
                        <a:defRPr sz="1800">
                          <a:solidFill>
                            <a:schemeClr val="accent1"/>
                          </a:solidFill>
                        </a:defRPr>
                      </a:pPr>
                      <a:t>[NOM DE CATÉGORIE]</a:t>
                    </a:fld>
                    <a:r>
                      <a:rPr lang="en-US" sz="1800" baseline="0" dirty="0">
                        <a:latin typeface="Trebuchet MS" panose="020B0603020202020204" pitchFamily="34" charset="0"/>
                      </a:rPr>
                      <a:t>; </a:t>
                    </a:r>
                    <a:fld id="{AC0FEB99-86C2-45ED-90D3-7EEE081E4DCA}" type="VALUE">
                      <a:rPr lang="en-US" sz="1800" baseline="0" smtClean="0">
                        <a:latin typeface="Trebuchet MS" panose="020B0603020202020204" pitchFamily="34" charset="0"/>
                      </a:rPr>
                      <a:pPr>
                        <a:defRPr sz="1800">
                          <a:solidFill>
                            <a:schemeClr val="accent1"/>
                          </a:solidFill>
                        </a:defRPr>
                      </a:pPr>
                      <a:t>[VALEUR]</a:t>
                    </a:fld>
                    <a:r>
                      <a:rPr lang="en-US" sz="1800" baseline="0" dirty="0">
                        <a:latin typeface="Trebuchet MS" panose="020B0603020202020204" pitchFamily="34" charset="0"/>
                      </a:rPr>
                      <a:t>, </a:t>
                    </a:r>
                    <a:fld id="{C77EFD07-7ED1-414B-97CF-7C61752C8E26}" type="PERCENTAGE">
                      <a:rPr lang="en-US" sz="1800" baseline="0">
                        <a:latin typeface="Trebuchet MS" panose="020B0603020202020204" pitchFamily="34" charset="0"/>
                      </a:rPr>
                      <a:pPr>
                        <a:defRPr sz="1800">
                          <a:solidFill>
                            <a:schemeClr val="accent1"/>
                          </a:solidFill>
                        </a:defRPr>
                      </a:pPr>
                      <a:t>[POURCENTAGE]</a:t>
                    </a:fld>
                    <a:endParaRPr lang="en-US" sz="1800" baseline="0" dirty="0">
                      <a:latin typeface="Trebuchet MS" panose="020B0603020202020204" pitchFamily="34" charset="0"/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8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7B02-418F-964F-8C043DD044C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spc="0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Feuil4!$A$4:$A$6</c:f>
              <c:strCache>
                <c:ptCount val="2"/>
                <c:pt idx="0">
                  <c:v>Féminin</c:v>
                </c:pt>
                <c:pt idx="1">
                  <c:v>Masculin</c:v>
                </c:pt>
              </c:strCache>
            </c:strRef>
          </c:cat>
          <c:val>
            <c:numRef>
              <c:f>Feuil4!$B$4:$B$6</c:f>
              <c:numCache>
                <c:formatCode>General</c:formatCode>
                <c:ptCount val="2"/>
                <c:pt idx="0">
                  <c:v>49</c:v>
                </c:pt>
                <c:pt idx="1">
                  <c:v>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B02-418F-964F-8C043DD044CA}"/>
            </c:ext>
          </c:extLst>
        </c:ser>
        <c:dLbls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cs:styleClr val="auto"/>
    </cs:fontRef>
    <cs:defRPr sz="133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C3E486-4751-4992-9AD1-A975A8B10700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62717-A8A4-40FB-8BD7-7CE1137DA6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5882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3B970-B9AE-440E-A12B-6E6B11D8670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9559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14B04D-F925-432A-A724-B15255F3F9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1B64668-8FE3-4DE0-927F-E2878A9119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B4C7C54-D435-4D27-B819-E0000DF7F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BB0C3-23B1-4B1A-AAEF-42752072367A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04A61D6-E61A-4A62-965B-F806A73DD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0B7B052-6597-42BB-9932-6FDC22257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FB320-6435-43DC-AF19-A5A637D301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7557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242D06-73BD-450D-83CE-338BA867E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17C68A0-D029-4072-9B16-A98462397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0ACEB1A-9036-4D93-B48E-00CB754F2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BB0C3-23B1-4B1A-AAEF-42752072367A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2EBFDB3-7775-4195-B9F6-083EBEF27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7738664-409D-4D87-8463-72B556A61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FB320-6435-43DC-AF19-A5A637D301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7081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58042E-75D5-422E-8D79-627DC17C4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73BB082-486A-4931-ADB3-44D409670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AB6D906-E5C2-4FCC-9EA7-DBE9B87D5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BB0C3-23B1-4B1A-AAEF-42752072367A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C156345-93BD-4EBD-9372-E82B25ADB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8A8211E-D837-48B6-B569-616356C20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FB320-6435-43DC-AF19-A5A637D301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8175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5027E6-A3FB-44F9-83D7-B06AAE3CF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5A757F1-1862-4FE0-99AE-0356EEE0B8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5F524C0-CE05-47D4-AD2D-750FB8E328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3AE13E3-C4B8-4AF0-9D91-C62A8C24C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BB0C3-23B1-4B1A-AAEF-42752072367A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8A5AACC-A8F0-4343-A412-D079E24CE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DDE127E-2F8A-4A72-B817-388F94947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FB320-6435-43DC-AF19-A5A637D301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8492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D21DBB-B2A7-4F92-8E2E-ABEDD3007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58D763D-2AF1-4834-954F-F6804CBD4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2D43B8C-3D44-4E79-87B5-FDFC71FD0F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4F5945B-AB23-4FE1-BD64-D2C8C8EA7C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1AA0122-CC5F-45B5-8854-913C11FAA7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8C7A584-316A-487E-9E0C-B7D7FB1C7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BB0C3-23B1-4B1A-AAEF-42752072367A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9FAA87F-74F6-497E-B89F-FA7BE2B1E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D53A979-301A-4FF0-B9F0-388B12118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FB320-6435-43DC-AF19-A5A637D301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1713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76CDC5-7F35-4FA4-9103-A1E565472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22C1243-5178-45A7-903F-926BD8519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BB0C3-23B1-4B1A-AAEF-42752072367A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28DB127-5234-4ED5-9210-4422BE93D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142C43D-0F6A-4CE7-B666-CE9ED61A5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FB320-6435-43DC-AF19-A5A637D301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6484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1800F3D-72FB-41AE-BBCA-3E8C3AE79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BB0C3-23B1-4B1A-AAEF-42752072367A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1D3E44D-BCFB-4BE7-A0F9-10B75EF8F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CA6ADEB-D526-49FC-BFA2-AA0C1526B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FB320-6435-43DC-AF19-A5A637D301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2138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D4AABC-9FE8-4B1B-BAC3-926B25162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CF540CA-289A-48E5-AE25-327CCF3014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A792489-C159-437F-A0A9-73891A066C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597D18F-2555-4AF5-BCD9-731921F49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BB0C3-23B1-4B1A-AAEF-42752072367A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2B20E0F-9B41-43AC-9A3C-4DF887990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51FE50A-A969-4748-AB22-723271159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FB320-6435-43DC-AF19-A5A637D301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587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505B32-5936-419A-BE48-965084D5D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27DCF96-C676-4575-90AD-2E445C09CD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8BABA21-5F47-40AF-BF71-3CF7A608DC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96C6B99-6415-4317-9AEF-1DDE819FF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BB0C3-23B1-4B1A-AAEF-42752072367A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E91A8B0-D2F1-4A3E-813A-0BCC58D0A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0A7261C-1E39-4414-B0C2-4FD6830F2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FB320-6435-43DC-AF19-A5A637D301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4755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80E371-901B-42D8-ADBF-C3CAC7917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E1DFA34-0C74-498C-B03A-A11FC79BE3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97EE9E-DF36-426F-88F0-8B082BAF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BB0C3-23B1-4B1A-AAEF-42752072367A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A1A9C03-31FE-43EB-8BFF-4BFF4F3C6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6A073A6-6C59-40BD-AA84-E5251257A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FB320-6435-43DC-AF19-A5A637D301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5553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A58C789-9AC4-48A2-9AB7-9CE5A0CB80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FF5327B-56AC-437B-B3B5-A9F01857D7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3AA22CA-7123-4E79-A2CC-4A9B8FE0F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BB0C3-23B1-4B1A-AAEF-42752072367A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1ABC3F9-FD58-43C3-9972-FD967B249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6559406-D7C0-4AEA-94B2-BB2E60997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FB320-6435-43DC-AF19-A5A637D301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7261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C28271E-4552-4D40-9109-8A7A485F3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5E7F6F8-F82E-49A2-9EB5-486E888F44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EE6C8D1-BD3C-4746-A23A-CDCE705357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1BB0C3-23B1-4B1A-AAEF-42752072367A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4D1B2BF-5F7C-4354-BA91-C5DF4BCF91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DE6899D-E267-4E47-A318-C32DA8C07B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0FB320-6435-43DC-AF19-A5A637D301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3984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C38D1C43-5291-265D-B635-9B2E19EA31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81D4C102-A9C2-3954-0550-3DD3B17D98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05F545B2-CB32-9863-93F4-51F11584C3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5" y="171"/>
            <a:ext cx="12191390" cy="6857656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32CC36B9-756F-9E32-755D-D5B27358BD2C}"/>
              </a:ext>
            </a:extLst>
          </p:cNvPr>
          <p:cNvSpPr txBox="1"/>
          <p:nvPr/>
        </p:nvSpPr>
        <p:spPr>
          <a:xfrm>
            <a:off x="1318845" y="2378860"/>
            <a:ext cx="862301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400" dirty="0">
              <a:solidFill>
                <a:schemeClr val="bg1"/>
              </a:solidFill>
              <a:latin typeface="Gotham Book" panose="02000604040000020004" pitchFamily="50" charset="0"/>
              <a:cs typeface="Gotham Black" pitchFamily="50" charset="0"/>
            </a:endParaRPr>
          </a:p>
          <a:p>
            <a:r>
              <a:rPr lang="fr-FR" sz="3200" dirty="0">
                <a:solidFill>
                  <a:schemeClr val="bg1"/>
                </a:solidFill>
                <a:latin typeface="Gotham Black" pitchFamily="50" charset="0"/>
                <a:cs typeface="Gotham Black" pitchFamily="50" charset="0"/>
              </a:rPr>
              <a:t>Projet d’Appui au Renforcement </a:t>
            </a:r>
            <a:br>
              <a:rPr lang="fr-FR" sz="3200" dirty="0">
                <a:solidFill>
                  <a:schemeClr val="bg1"/>
                </a:solidFill>
                <a:latin typeface="Gotham Black" pitchFamily="50" charset="0"/>
                <a:cs typeface="Gotham Black" pitchFamily="50" charset="0"/>
              </a:rPr>
            </a:br>
            <a:r>
              <a:rPr lang="fr-FR" sz="3200" dirty="0">
                <a:solidFill>
                  <a:schemeClr val="bg1"/>
                </a:solidFill>
                <a:latin typeface="Gotham Black" pitchFamily="50" charset="0"/>
                <a:cs typeface="Gotham Black" pitchFamily="50" charset="0"/>
              </a:rPr>
              <a:t>de la Gestion Qualité dans les PME</a:t>
            </a:r>
            <a:br>
              <a:rPr lang="fr-FR" sz="3200" dirty="0">
                <a:solidFill>
                  <a:schemeClr val="bg1"/>
                </a:solidFill>
                <a:latin typeface="Gotham Black" pitchFamily="50" charset="0"/>
                <a:cs typeface="Gotham Black" pitchFamily="50" charset="0"/>
              </a:rPr>
            </a:br>
            <a:r>
              <a:rPr lang="fr-FR" sz="3200" dirty="0">
                <a:solidFill>
                  <a:schemeClr val="bg1"/>
                </a:solidFill>
                <a:latin typeface="Gotham Black" pitchFamily="50" charset="0"/>
                <a:cs typeface="Gotham Black" pitchFamily="50" charset="0"/>
              </a:rPr>
              <a:t>(</a:t>
            </a:r>
            <a:r>
              <a:rPr lang="fr-FR" sz="3200" dirty="0" err="1">
                <a:solidFill>
                  <a:schemeClr val="bg1"/>
                </a:solidFill>
                <a:latin typeface="Gotham Black" pitchFamily="50" charset="0"/>
                <a:cs typeface="Gotham Black" pitchFamily="50" charset="0"/>
              </a:rPr>
              <a:t>PARGeQ</a:t>
            </a:r>
            <a:r>
              <a:rPr lang="fr-FR" sz="3200" dirty="0">
                <a:solidFill>
                  <a:schemeClr val="bg1"/>
                </a:solidFill>
                <a:latin typeface="Gotham Black" pitchFamily="50" charset="0"/>
                <a:cs typeface="Gotham Black" pitchFamily="50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55730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FDF8E-F44E-6CEF-A374-F2706E8C8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C511EA69-0254-269A-6BEC-9DE66C8ADD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17586"/>
            <a:ext cx="12192000" cy="6857657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9623325B-783D-2F86-ADCE-C783DB697B2F}"/>
              </a:ext>
            </a:extLst>
          </p:cNvPr>
          <p:cNvSpPr txBox="1"/>
          <p:nvPr/>
        </p:nvSpPr>
        <p:spPr>
          <a:xfrm>
            <a:off x="1470702" y="726124"/>
            <a:ext cx="49989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bg1"/>
                </a:solidFill>
                <a:latin typeface="Gotham Black" pitchFamily="50" charset="0"/>
                <a:cs typeface="Gotham Black" pitchFamily="50" charset="0"/>
              </a:rPr>
              <a:t>Objectif général</a:t>
            </a:r>
          </a:p>
        </p:txBody>
      </p: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1727B168-B31A-6090-312D-DFC7D70BA04A}"/>
              </a:ext>
            </a:extLst>
          </p:cNvPr>
          <p:cNvCxnSpPr>
            <a:cxnSpLocks/>
          </p:cNvCxnSpPr>
          <p:nvPr/>
        </p:nvCxnSpPr>
        <p:spPr>
          <a:xfrm>
            <a:off x="0" y="1099104"/>
            <a:ext cx="129018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1CACE627-9427-8F1A-5FB2-36F4C93FE5B0}"/>
              </a:ext>
            </a:extLst>
          </p:cNvPr>
          <p:cNvCxnSpPr>
            <a:cxnSpLocks/>
          </p:cNvCxnSpPr>
          <p:nvPr/>
        </p:nvCxnSpPr>
        <p:spPr>
          <a:xfrm>
            <a:off x="7393858" y="1099104"/>
            <a:ext cx="466967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" name="Ellipse 6">
            <a:extLst>
              <a:ext uri="{FF2B5EF4-FFF2-40B4-BE49-F238E27FC236}">
                <a16:creationId xmlns:a16="http://schemas.microsoft.com/office/drawing/2014/main" id="{13A18E22-601C-D641-EB20-3BD1BAEBB2DA}"/>
              </a:ext>
            </a:extLst>
          </p:cNvPr>
          <p:cNvSpPr/>
          <p:nvPr/>
        </p:nvSpPr>
        <p:spPr>
          <a:xfrm>
            <a:off x="366811" y="1967044"/>
            <a:ext cx="6889774" cy="4357556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buNone/>
            </a:pPr>
            <a:endParaRPr lang="fr-FR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Bef>
                <a:spcPts val="200"/>
              </a:spcBef>
              <a:buNone/>
            </a:pPr>
            <a:r>
              <a:rPr lang="fr-FR" sz="2400" b="1" dirty="0">
                <a:latin typeface="Trebuchet MS" panose="020B0603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Renforcer les capacités des PME prêtes à l’export, dans divers secteurs</a:t>
            </a:r>
            <a:r>
              <a:rPr lang="fr-FR" sz="2400" dirty="0">
                <a:latin typeface="Trebuchet MS" panose="020B0603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pour une meilleure prise en compte de la qualité et un renforcement du SMQ dans leur entreprise. </a:t>
            </a:r>
            <a:endParaRPr lang="en-US" sz="2400" dirty="0">
              <a:latin typeface="Trebuchet MS" panose="020B0603020202020204" pitchFamily="34" charset="0"/>
            </a:endParaRPr>
          </a:p>
          <a:p>
            <a:pPr algn="ctr"/>
            <a:endParaRPr lang="en-US" sz="20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8F16902E-7AF7-3C2E-7E63-59B29FC15D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7791" y="2459777"/>
            <a:ext cx="4455740" cy="298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65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FDF8E-F44E-6CEF-A374-F2706E8C8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C511EA69-0254-269A-6BEC-9DE66C8ADD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11287" y="-401996"/>
            <a:ext cx="12192000" cy="6857657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9623325B-783D-2F86-ADCE-C783DB697B2F}"/>
              </a:ext>
            </a:extLst>
          </p:cNvPr>
          <p:cNvSpPr txBox="1"/>
          <p:nvPr/>
        </p:nvSpPr>
        <p:spPr>
          <a:xfrm>
            <a:off x="1382779" y="333394"/>
            <a:ext cx="8364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bg1"/>
                </a:solidFill>
                <a:latin typeface="Gotham Black" pitchFamily="50" charset="0"/>
                <a:cs typeface="Gotham Black" pitchFamily="50" charset="0"/>
              </a:rPr>
              <a:t>Objectifs spécifiques</a:t>
            </a:r>
          </a:p>
        </p:txBody>
      </p: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1727B168-B31A-6090-312D-DFC7D70BA04A}"/>
              </a:ext>
            </a:extLst>
          </p:cNvPr>
          <p:cNvCxnSpPr>
            <a:cxnSpLocks/>
          </p:cNvCxnSpPr>
          <p:nvPr/>
        </p:nvCxnSpPr>
        <p:spPr>
          <a:xfrm>
            <a:off x="0" y="1099104"/>
            <a:ext cx="129018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1CACE627-9427-8F1A-5FB2-36F4C93FE5B0}"/>
              </a:ext>
            </a:extLst>
          </p:cNvPr>
          <p:cNvCxnSpPr>
            <a:cxnSpLocks/>
          </p:cNvCxnSpPr>
          <p:nvPr/>
        </p:nvCxnSpPr>
        <p:spPr>
          <a:xfrm>
            <a:off x="7716241" y="1099104"/>
            <a:ext cx="466967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6" name="Oval 2">
            <a:extLst>
              <a:ext uri="{FF2B5EF4-FFF2-40B4-BE49-F238E27FC236}">
                <a16:creationId xmlns:a16="http://schemas.microsoft.com/office/drawing/2014/main" id="{188EA31F-AA0F-F73B-C89D-BA3F66915CB8}"/>
              </a:ext>
            </a:extLst>
          </p:cNvPr>
          <p:cNvSpPr/>
          <p:nvPr/>
        </p:nvSpPr>
        <p:spPr>
          <a:xfrm>
            <a:off x="1003300" y="1701800"/>
            <a:ext cx="228600" cy="228600"/>
          </a:xfrm>
          <a:prstGeom prst="ellipse">
            <a:avLst/>
          </a:prstGeom>
          <a:solidFill>
            <a:srgbClr val="3A5C8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Oval 3">
            <a:extLst>
              <a:ext uri="{FF2B5EF4-FFF2-40B4-BE49-F238E27FC236}">
                <a16:creationId xmlns:a16="http://schemas.microsoft.com/office/drawing/2014/main" id="{BE93A1A6-A3EC-7F67-0216-9D86479CAE65}"/>
              </a:ext>
            </a:extLst>
          </p:cNvPr>
          <p:cNvSpPr/>
          <p:nvPr/>
        </p:nvSpPr>
        <p:spPr>
          <a:xfrm>
            <a:off x="5981700" y="2912533"/>
            <a:ext cx="228600" cy="228600"/>
          </a:xfrm>
          <a:prstGeom prst="ellipse">
            <a:avLst/>
          </a:prstGeom>
          <a:solidFill>
            <a:srgbClr val="3A5C8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Oval 4">
            <a:extLst>
              <a:ext uri="{FF2B5EF4-FFF2-40B4-BE49-F238E27FC236}">
                <a16:creationId xmlns:a16="http://schemas.microsoft.com/office/drawing/2014/main" id="{CF830962-D6BD-F12D-35AA-7F510AEA4779}"/>
              </a:ext>
            </a:extLst>
          </p:cNvPr>
          <p:cNvSpPr/>
          <p:nvPr/>
        </p:nvSpPr>
        <p:spPr>
          <a:xfrm>
            <a:off x="1003300" y="2912533"/>
            <a:ext cx="228600" cy="228600"/>
          </a:xfrm>
          <a:prstGeom prst="ellipse">
            <a:avLst/>
          </a:prstGeom>
          <a:solidFill>
            <a:srgbClr val="3A5C8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Oval 5">
            <a:extLst>
              <a:ext uri="{FF2B5EF4-FFF2-40B4-BE49-F238E27FC236}">
                <a16:creationId xmlns:a16="http://schemas.microsoft.com/office/drawing/2014/main" id="{EFFF9B58-EA4E-A4A3-8EFA-00A7436695DC}"/>
              </a:ext>
            </a:extLst>
          </p:cNvPr>
          <p:cNvSpPr/>
          <p:nvPr/>
        </p:nvSpPr>
        <p:spPr>
          <a:xfrm>
            <a:off x="3492500" y="4123266"/>
            <a:ext cx="228600" cy="228600"/>
          </a:xfrm>
          <a:prstGeom prst="ellipse">
            <a:avLst/>
          </a:prstGeom>
          <a:solidFill>
            <a:srgbClr val="3A5C8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Oval 6">
            <a:extLst>
              <a:ext uri="{FF2B5EF4-FFF2-40B4-BE49-F238E27FC236}">
                <a16:creationId xmlns:a16="http://schemas.microsoft.com/office/drawing/2014/main" id="{548A4E2C-E003-F306-96A4-DFD6E4F1DE8D}"/>
              </a:ext>
            </a:extLst>
          </p:cNvPr>
          <p:cNvSpPr/>
          <p:nvPr/>
        </p:nvSpPr>
        <p:spPr>
          <a:xfrm>
            <a:off x="5981700" y="4123266"/>
            <a:ext cx="228600" cy="228600"/>
          </a:xfrm>
          <a:prstGeom prst="ellipse">
            <a:avLst/>
          </a:prstGeom>
          <a:solidFill>
            <a:srgbClr val="3A5C8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Oval 7">
            <a:extLst>
              <a:ext uri="{FF2B5EF4-FFF2-40B4-BE49-F238E27FC236}">
                <a16:creationId xmlns:a16="http://schemas.microsoft.com/office/drawing/2014/main" id="{633D6543-78FA-22BF-54A8-1B4DB0A1C02D}"/>
              </a:ext>
            </a:extLst>
          </p:cNvPr>
          <p:cNvSpPr/>
          <p:nvPr/>
        </p:nvSpPr>
        <p:spPr>
          <a:xfrm>
            <a:off x="3492500" y="5334000"/>
            <a:ext cx="228600" cy="228600"/>
          </a:xfrm>
          <a:prstGeom prst="ellipse">
            <a:avLst/>
          </a:prstGeom>
          <a:solidFill>
            <a:srgbClr val="3A5C8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Oval 8">
            <a:extLst>
              <a:ext uri="{FF2B5EF4-FFF2-40B4-BE49-F238E27FC236}">
                <a16:creationId xmlns:a16="http://schemas.microsoft.com/office/drawing/2014/main" id="{F23AB4EB-8E94-44B3-C34C-9CCB459C5E97}"/>
              </a:ext>
            </a:extLst>
          </p:cNvPr>
          <p:cNvSpPr/>
          <p:nvPr/>
        </p:nvSpPr>
        <p:spPr>
          <a:xfrm>
            <a:off x="10515600" y="5334000"/>
            <a:ext cx="228600" cy="228600"/>
          </a:xfrm>
          <a:prstGeom prst="ellipse">
            <a:avLst/>
          </a:prstGeom>
          <a:solidFill>
            <a:srgbClr val="3A5C8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5" name="Straight Connector 9">
            <a:extLst>
              <a:ext uri="{FF2B5EF4-FFF2-40B4-BE49-F238E27FC236}">
                <a16:creationId xmlns:a16="http://schemas.microsoft.com/office/drawing/2014/main" id="{1E23439C-5DF7-7E2D-1828-6E46B08DE37A}"/>
              </a:ext>
            </a:extLst>
          </p:cNvPr>
          <p:cNvCxnSpPr>
            <a:cxnSpLocks/>
            <a:stCxn id="26" idx="4"/>
            <a:endCxn id="28" idx="0"/>
          </p:cNvCxnSpPr>
          <p:nvPr/>
        </p:nvCxnSpPr>
        <p:spPr>
          <a:xfrm>
            <a:off x="1117600" y="1930400"/>
            <a:ext cx="0" cy="982133"/>
          </a:xfrm>
          <a:prstGeom prst="line">
            <a:avLst/>
          </a:prstGeom>
          <a:noFill/>
          <a:ln w="4445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cxnSp>
        <p:nvCxnSpPr>
          <p:cNvPr id="36" name="Straight Connector 10">
            <a:extLst>
              <a:ext uri="{FF2B5EF4-FFF2-40B4-BE49-F238E27FC236}">
                <a16:creationId xmlns:a16="http://schemas.microsoft.com/office/drawing/2014/main" id="{12064151-4C60-DD9D-5D44-4239B3079C09}"/>
              </a:ext>
            </a:extLst>
          </p:cNvPr>
          <p:cNvCxnSpPr>
            <a:cxnSpLocks/>
            <a:stCxn id="28" idx="6"/>
            <a:endCxn id="27" idx="2"/>
          </p:cNvCxnSpPr>
          <p:nvPr/>
        </p:nvCxnSpPr>
        <p:spPr>
          <a:xfrm>
            <a:off x="1231900" y="3026833"/>
            <a:ext cx="4749800" cy="0"/>
          </a:xfrm>
          <a:prstGeom prst="line">
            <a:avLst/>
          </a:prstGeom>
          <a:noFill/>
          <a:ln w="44450" cap="flat" cmpd="sng" algn="ctr">
            <a:solidFill>
              <a:schemeClr val="accent2"/>
            </a:solidFill>
            <a:prstDash val="solid"/>
            <a:miter lim="800000"/>
          </a:ln>
          <a:effectLst/>
        </p:spPr>
      </p:cxnSp>
      <p:cxnSp>
        <p:nvCxnSpPr>
          <p:cNvPr id="37" name="Straight Connector 11">
            <a:extLst>
              <a:ext uri="{FF2B5EF4-FFF2-40B4-BE49-F238E27FC236}">
                <a16:creationId xmlns:a16="http://schemas.microsoft.com/office/drawing/2014/main" id="{C2FBAD9C-AF14-B46C-05F4-F61FF008D6F0}"/>
              </a:ext>
            </a:extLst>
          </p:cNvPr>
          <p:cNvCxnSpPr>
            <a:cxnSpLocks/>
            <a:stCxn id="27" idx="4"/>
            <a:endCxn id="30" idx="0"/>
          </p:cNvCxnSpPr>
          <p:nvPr/>
        </p:nvCxnSpPr>
        <p:spPr>
          <a:xfrm>
            <a:off x="6096000" y="3141133"/>
            <a:ext cx="0" cy="982133"/>
          </a:xfrm>
          <a:prstGeom prst="line">
            <a:avLst/>
          </a:prstGeom>
          <a:noFill/>
          <a:ln w="44450" cap="flat" cmpd="sng" algn="ctr">
            <a:solidFill>
              <a:srgbClr val="3A5C84"/>
            </a:solidFill>
            <a:prstDash val="solid"/>
            <a:miter lim="800000"/>
          </a:ln>
          <a:effectLst/>
        </p:spPr>
      </p:cxnSp>
      <p:cxnSp>
        <p:nvCxnSpPr>
          <p:cNvPr id="38" name="Straight Connector 12">
            <a:extLst>
              <a:ext uri="{FF2B5EF4-FFF2-40B4-BE49-F238E27FC236}">
                <a16:creationId xmlns:a16="http://schemas.microsoft.com/office/drawing/2014/main" id="{A2D10530-408B-CB62-0C75-54249D52EEDE}"/>
              </a:ext>
            </a:extLst>
          </p:cNvPr>
          <p:cNvCxnSpPr>
            <a:cxnSpLocks/>
            <a:stCxn id="29" idx="4"/>
            <a:endCxn id="31" idx="0"/>
          </p:cNvCxnSpPr>
          <p:nvPr/>
        </p:nvCxnSpPr>
        <p:spPr>
          <a:xfrm>
            <a:off x="3606800" y="4351866"/>
            <a:ext cx="0" cy="982134"/>
          </a:xfrm>
          <a:prstGeom prst="line">
            <a:avLst/>
          </a:prstGeom>
          <a:noFill/>
          <a:ln w="44450" cap="flat" cmpd="sng" algn="ctr">
            <a:solidFill>
              <a:srgbClr val="3A5C84"/>
            </a:solidFill>
            <a:prstDash val="solid"/>
            <a:miter lim="800000"/>
          </a:ln>
          <a:effectLst/>
        </p:spPr>
      </p:cxnSp>
      <p:cxnSp>
        <p:nvCxnSpPr>
          <p:cNvPr id="39" name="Straight Connector 13">
            <a:extLst>
              <a:ext uri="{FF2B5EF4-FFF2-40B4-BE49-F238E27FC236}">
                <a16:creationId xmlns:a16="http://schemas.microsoft.com/office/drawing/2014/main" id="{CC1F3432-C142-4B2F-BEA6-C31C051BC532}"/>
              </a:ext>
            </a:extLst>
          </p:cNvPr>
          <p:cNvCxnSpPr>
            <a:cxnSpLocks/>
            <a:stCxn id="29" idx="6"/>
            <a:endCxn id="30" idx="2"/>
          </p:cNvCxnSpPr>
          <p:nvPr/>
        </p:nvCxnSpPr>
        <p:spPr>
          <a:xfrm>
            <a:off x="3721100" y="4237566"/>
            <a:ext cx="2260600" cy="0"/>
          </a:xfrm>
          <a:prstGeom prst="line">
            <a:avLst/>
          </a:prstGeom>
          <a:noFill/>
          <a:ln w="44450" cap="flat" cmpd="sng" algn="ctr">
            <a:solidFill>
              <a:schemeClr val="accent6"/>
            </a:solidFill>
            <a:prstDash val="solid"/>
            <a:miter lim="800000"/>
          </a:ln>
          <a:effectLst/>
        </p:spPr>
      </p:cxnSp>
      <p:cxnSp>
        <p:nvCxnSpPr>
          <p:cNvPr id="40" name="Straight Connector 14">
            <a:extLst>
              <a:ext uri="{FF2B5EF4-FFF2-40B4-BE49-F238E27FC236}">
                <a16:creationId xmlns:a16="http://schemas.microsoft.com/office/drawing/2014/main" id="{6B27B3DB-CB3E-F32A-1B33-59A87A701DD1}"/>
              </a:ext>
            </a:extLst>
          </p:cNvPr>
          <p:cNvCxnSpPr>
            <a:cxnSpLocks/>
            <a:stCxn id="31" idx="6"/>
            <a:endCxn id="34" idx="2"/>
          </p:cNvCxnSpPr>
          <p:nvPr/>
        </p:nvCxnSpPr>
        <p:spPr>
          <a:xfrm>
            <a:off x="3721100" y="5448300"/>
            <a:ext cx="6794500" cy="0"/>
          </a:xfrm>
          <a:prstGeom prst="line">
            <a:avLst/>
          </a:prstGeom>
          <a:noFill/>
          <a:ln w="44450" cap="flat" cmpd="sng" algn="ctr">
            <a:solidFill>
              <a:schemeClr val="accent4"/>
            </a:solidFill>
            <a:prstDash val="solid"/>
            <a:miter lim="800000"/>
          </a:ln>
          <a:effectLst/>
        </p:spPr>
      </p:cxnSp>
      <p:grpSp>
        <p:nvGrpSpPr>
          <p:cNvPr id="41" name="Group 19">
            <a:extLst>
              <a:ext uri="{FF2B5EF4-FFF2-40B4-BE49-F238E27FC236}">
                <a16:creationId xmlns:a16="http://schemas.microsoft.com/office/drawing/2014/main" id="{8CEE3B8D-747B-A390-2E06-80442F0B79A5}"/>
              </a:ext>
            </a:extLst>
          </p:cNvPr>
          <p:cNvGrpSpPr/>
          <p:nvPr/>
        </p:nvGrpSpPr>
        <p:grpSpPr>
          <a:xfrm>
            <a:off x="2573930" y="1213405"/>
            <a:ext cx="5939275" cy="1450358"/>
            <a:chOff x="332936" y="2312702"/>
            <a:chExt cx="2946435" cy="2440155"/>
          </a:xfrm>
        </p:grpSpPr>
        <p:sp>
          <p:nvSpPr>
            <p:cNvPr id="42" name="TextBox 20">
              <a:extLst>
                <a:ext uri="{FF2B5EF4-FFF2-40B4-BE49-F238E27FC236}">
                  <a16:creationId xmlns:a16="http://schemas.microsoft.com/office/drawing/2014/main" id="{70F04F2B-5F67-143C-AAE7-EF08C8AE935C}"/>
                </a:ext>
              </a:extLst>
            </p:cNvPr>
            <p:cNvSpPr txBox="1"/>
            <p:nvPr/>
          </p:nvSpPr>
          <p:spPr>
            <a:xfrm>
              <a:off x="332936" y="2312702"/>
              <a:ext cx="2926080" cy="776728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43" name="TextBox 21">
              <a:extLst>
                <a:ext uri="{FF2B5EF4-FFF2-40B4-BE49-F238E27FC236}">
                  <a16:creationId xmlns:a16="http://schemas.microsoft.com/office/drawing/2014/main" id="{E6A4DA83-C80A-46BB-0532-A8CAECE20329}"/>
                </a:ext>
              </a:extLst>
            </p:cNvPr>
            <p:cNvSpPr txBox="1"/>
            <p:nvPr/>
          </p:nvSpPr>
          <p:spPr>
            <a:xfrm>
              <a:off x="353291" y="2721532"/>
              <a:ext cx="2926080" cy="2031325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>
                <a:defRPr/>
              </a:pPr>
              <a:r>
                <a:rPr lang="fr-FR" kern="100" dirty="0">
                  <a:latin typeface="Trebuchet MS" panose="020B0603020202020204" pitchFamily="34" charset="0"/>
                  <a:ea typeface="Aptos"/>
                  <a:cs typeface="Arial" panose="020B0604020202020204" pitchFamily="34" charset="0"/>
                </a:rPr>
                <a:t>Renforcer les connaissances et capacités des PME sur le Management de la Qualité conformément aux normes qualité pertinentes y compris ISO 9001 version 2015</a:t>
              </a:r>
              <a:endParaRPr lang="fr-FR" kern="100" dirty="0">
                <a:latin typeface="Trebuchet MS" panose="020B0603020202020204" pitchFamily="34" charset="0"/>
                <a:ea typeface="Aptos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4" name="Group 22">
            <a:extLst>
              <a:ext uri="{FF2B5EF4-FFF2-40B4-BE49-F238E27FC236}">
                <a16:creationId xmlns:a16="http://schemas.microsoft.com/office/drawing/2014/main" id="{9F8481B2-F7C7-49E4-DA5B-B9DAB5D603F1}"/>
              </a:ext>
            </a:extLst>
          </p:cNvPr>
          <p:cNvGrpSpPr/>
          <p:nvPr/>
        </p:nvGrpSpPr>
        <p:grpSpPr>
          <a:xfrm>
            <a:off x="2573930" y="2729949"/>
            <a:ext cx="3743769" cy="1492534"/>
            <a:chOff x="332936" y="1989131"/>
            <a:chExt cx="3549281" cy="2745358"/>
          </a:xfrm>
        </p:grpSpPr>
        <p:sp>
          <p:nvSpPr>
            <p:cNvPr id="45" name="TextBox 23">
              <a:extLst>
                <a:ext uri="{FF2B5EF4-FFF2-40B4-BE49-F238E27FC236}">
                  <a16:creationId xmlns:a16="http://schemas.microsoft.com/office/drawing/2014/main" id="{D30D7D17-7962-8510-1BED-4F04F07CF67F}"/>
                </a:ext>
              </a:extLst>
            </p:cNvPr>
            <p:cNvSpPr txBox="1"/>
            <p:nvPr/>
          </p:nvSpPr>
          <p:spPr>
            <a:xfrm>
              <a:off x="332936" y="1989131"/>
              <a:ext cx="2926080" cy="1100301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46" name="TextBox 24">
              <a:extLst>
                <a:ext uri="{FF2B5EF4-FFF2-40B4-BE49-F238E27FC236}">
                  <a16:creationId xmlns:a16="http://schemas.microsoft.com/office/drawing/2014/main" id="{D4F6D745-415A-029B-DBCF-B3C74308C671}"/>
                </a:ext>
              </a:extLst>
            </p:cNvPr>
            <p:cNvSpPr txBox="1"/>
            <p:nvPr/>
          </p:nvSpPr>
          <p:spPr>
            <a:xfrm>
              <a:off x="332936" y="3036121"/>
              <a:ext cx="3549281" cy="1698368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>
                <a:defRPr/>
              </a:pPr>
              <a:r>
                <a:rPr lang="fr-FR" kern="100" dirty="0">
                  <a:latin typeface="Trebuchet MS" panose="020B0603020202020204" pitchFamily="34" charset="0"/>
                  <a:ea typeface="Aptos"/>
                  <a:cs typeface="Arial" panose="020B0604020202020204" pitchFamily="34" charset="0"/>
                </a:rPr>
                <a:t>Déployer l’accompagnement de proximité </a:t>
              </a:r>
              <a:r>
                <a:rPr lang="fr-FR" kern="100" dirty="0" err="1">
                  <a:latin typeface="Trebuchet MS" panose="020B0603020202020204" pitchFamily="34" charset="0"/>
                  <a:ea typeface="Aptos"/>
                  <a:cs typeface="Arial" panose="020B0604020202020204" pitchFamily="34" charset="0"/>
                </a:rPr>
                <a:t>Quality-Boost</a:t>
              </a:r>
              <a:r>
                <a:rPr lang="fr-FR" kern="100" dirty="0">
                  <a:latin typeface="Trebuchet MS" panose="020B0603020202020204" pitchFamily="34" charset="0"/>
                  <a:ea typeface="Aptos"/>
                  <a:cs typeface="Arial" panose="020B0604020202020204" pitchFamily="34" charset="0"/>
                </a:rPr>
                <a:t> (Q-</a:t>
              </a:r>
              <a:r>
                <a:rPr lang="fr-FR" kern="100" dirty="0" err="1">
                  <a:latin typeface="Trebuchet MS" panose="020B0603020202020204" pitchFamily="34" charset="0"/>
                  <a:ea typeface="Aptos"/>
                  <a:cs typeface="Arial" panose="020B0604020202020204" pitchFamily="34" charset="0"/>
                </a:rPr>
                <a:t>Boost</a:t>
              </a:r>
              <a:r>
                <a:rPr lang="fr-FR" kern="100" dirty="0">
                  <a:latin typeface="Trebuchet MS" panose="020B0603020202020204" pitchFamily="34" charset="0"/>
                  <a:ea typeface="Aptos"/>
                  <a:cs typeface="Arial" panose="020B0604020202020204" pitchFamily="34" charset="0"/>
                </a:rPr>
                <a:t>)</a:t>
              </a:r>
              <a:endParaRPr kumimoji="0" lang="en-US" sz="1200" b="0" i="0" u="none" strike="noStrike" kern="0" cap="none" spc="0" normalizeH="0" baseline="0" noProof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47" name="Group 25">
            <a:extLst>
              <a:ext uri="{FF2B5EF4-FFF2-40B4-BE49-F238E27FC236}">
                <a16:creationId xmlns:a16="http://schemas.microsoft.com/office/drawing/2014/main" id="{81925048-E498-192E-1009-B7E974CEDA0A}"/>
              </a:ext>
            </a:extLst>
          </p:cNvPr>
          <p:cNvGrpSpPr/>
          <p:nvPr/>
        </p:nvGrpSpPr>
        <p:grpSpPr>
          <a:xfrm>
            <a:off x="4955753" y="4405449"/>
            <a:ext cx="3461415" cy="742882"/>
            <a:chOff x="272762" y="2627766"/>
            <a:chExt cx="3461415" cy="742882"/>
          </a:xfrm>
        </p:grpSpPr>
        <p:sp>
          <p:nvSpPr>
            <p:cNvPr id="48" name="TextBox 26">
              <a:extLst>
                <a:ext uri="{FF2B5EF4-FFF2-40B4-BE49-F238E27FC236}">
                  <a16:creationId xmlns:a16="http://schemas.microsoft.com/office/drawing/2014/main" id="{E2F94469-66C9-FE91-9C05-3C833050EA29}"/>
                </a:ext>
              </a:extLst>
            </p:cNvPr>
            <p:cNvSpPr txBox="1"/>
            <p:nvPr/>
          </p:nvSpPr>
          <p:spPr>
            <a:xfrm>
              <a:off x="332936" y="2627766"/>
              <a:ext cx="2926080" cy="46166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49" name="TextBox 27">
              <a:extLst>
                <a:ext uri="{FF2B5EF4-FFF2-40B4-BE49-F238E27FC236}">
                  <a16:creationId xmlns:a16="http://schemas.microsoft.com/office/drawing/2014/main" id="{A22B99BF-0965-0662-4A90-76389EAE6427}"/>
                </a:ext>
              </a:extLst>
            </p:cNvPr>
            <p:cNvSpPr txBox="1"/>
            <p:nvPr/>
          </p:nvSpPr>
          <p:spPr>
            <a:xfrm>
              <a:off x="272762" y="2724317"/>
              <a:ext cx="3461415" cy="646331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lvl="0">
                <a:defRPr/>
              </a:pPr>
              <a:r>
                <a:rPr lang="fr-FR" kern="100" dirty="0">
                  <a:latin typeface="Trebuchet MS" panose="020B0603020202020204" pitchFamily="34" charset="0"/>
                  <a:ea typeface="Aptos"/>
                  <a:cs typeface="Arial" panose="020B0604020202020204" pitchFamily="34" charset="0"/>
                </a:rPr>
                <a:t>Donner de la visibilité aux entreprises appuyées</a:t>
              </a:r>
              <a:endParaRPr kumimoji="0" lang="en-US" b="0" i="0" u="none" strike="noStrike" kern="0" cap="none" spc="0" normalizeH="0" baseline="0" noProof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50" name="Group 28">
            <a:extLst>
              <a:ext uri="{FF2B5EF4-FFF2-40B4-BE49-F238E27FC236}">
                <a16:creationId xmlns:a16="http://schemas.microsoft.com/office/drawing/2014/main" id="{D6A3FADF-188D-9564-ABCD-489C1D635011}"/>
              </a:ext>
            </a:extLst>
          </p:cNvPr>
          <p:cNvGrpSpPr/>
          <p:nvPr/>
        </p:nvGrpSpPr>
        <p:grpSpPr>
          <a:xfrm>
            <a:off x="8229027" y="2935067"/>
            <a:ext cx="2926080" cy="1548300"/>
            <a:chOff x="332936" y="2627766"/>
            <a:chExt cx="2926080" cy="1548300"/>
          </a:xfrm>
        </p:grpSpPr>
        <p:sp>
          <p:nvSpPr>
            <p:cNvPr id="51" name="TextBox 29">
              <a:extLst>
                <a:ext uri="{FF2B5EF4-FFF2-40B4-BE49-F238E27FC236}">
                  <a16:creationId xmlns:a16="http://schemas.microsoft.com/office/drawing/2014/main" id="{DD188B2D-0EAA-377A-7A47-B13253CC8F8E}"/>
                </a:ext>
              </a:extLst>
            </p:cNvPr>
            <p:cNvSpPr txBox="1"/>
            <p:nvPr/>
          </p:nvSpPr>
          <p:spPr>
            <a:xfrm>
              <a:off x="332936" y="2627766"/>
              <a:ext cx="2926080" cy="46166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52" name="TextBox 30">
              <a:extLst>
                <a:ext uri="{FF2B5EF4-FFF2-40B4-BE49-F238E27FC236}">
                  <a16:creationId xmlns:a16="http://schemas.microsoft.com/office/drawing/2014/main" id="{222423B7-1874-3A1F-B5AB-67059823225D}"/>
                </a:ext>
              </a:extLst>
            </p:cNvPr>
            <p:cNvSpPr txBox="1"/>
            <p:nvPr/>
          </p:nvSpPr>
          <p:spPr>
            <a:xfrm>
              <a:off x="332936" y="3345069"/>
              <a:ext cx="2926080" cy="830997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ctr">
                <a:defRPr/>
              </a:pPr>
              <a:r>
                <a:rPr lang="fr-FR" kern="100" dirty="0">
                  <a:latin typeface="Trebuchet MS" panose="020B0603020202020204" pitchFamily="34" charset="0"/>
                  <a:ea typeface="Aptos"/>
                  <a:cs typeface="Arial" panose="020B0604020202020204" pitchFamily="34" charset="0"/>
                </a:rPr>
                <a:t>Soutenir et contribuer au développement de Q-</a:t>
              </a:r>
              <a:r>
                <a:rPr lang="fr-FR" kern="100" dirty="0" err="1">
                  <a:latin typeface="Trebuchet MS" panose="020B0603020202020204" pitchFamily="34" charset="0"/>
                  <a:ea typeface="Aptos"/>
                  <a:cs typeface="Arial" panose="020B0604020202020204" pitchFamily="34" charset="0"/>
                </a:rPr>
                <a:t>Boost</a:t>
              </a:r>
              <a:endParaRPr lang="en-US" noProof="1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1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</a:rPr>
                <a:t>.</a:t>
              </a:r>
            </a:p>
          </p:txBody>
        </p:sp>
      </p:grpSp>
      <p:sp>
        <p:nvSpPr>
          <p:cNvPr id="54" name="Oval 16">
            <a:extLst>
              <a:ext uri="{FF2B5EF4-FFF2-40B4-BE49-F238E27FC236}">
                <a16:creationId xmlns:a16="http://schemas.microsoft.com/office/drawing/2014/main" id="{DBACACBD-6A0A-535C-C056-6DCFC7DBC904}"/>
              </a:ext>
            </a:extLst>
          </p:cNvPr>
          <p:cNvSpPr/>
          <p:nvPr/>
        </p:nvSpPr>
        <p:spPr>
          <a:xfrm>
            <a:off x="1799466" y="3291267"/>
            <a:ext cx="681866" cy="681866"/>
          </a:xfrm>
          <a:prstGeom prst="ellipse">
            <a:avLst/>
          </a:prstGeom>
          <a:solidFill>
            <a:schemeClr val="accent6"/>
          </a:solidFill>
          <a:ln w="6350" cap="flat" cmpd="sng" algn="ctr">
            <a:solidFill>
              <a:srgbClr val="3A5C8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57" name="Oval 17">
            <a:extLst>
              <a:ext uri="{FF2B5EF4-FFF2-40B4-BE49-F238E27FC236}">
                <a16:creationId xmlns:a16="http://schemas.microsoft.com/office/drawing/2014/main" id="{5C8BE777-D0C6-1991-CBD7-111C6AD8A1C3}"/>
              </a:ext>
            </a:extLst>
          </p:cNvPr>
          <p:cNvSpPr/>
          <p:nvPr/>
        </p:nvSpPr>
        <p:spPr>
          <a:xfrm>
            <a:off x="4169534" y="4502000"/>
            <a:ext cx="681866" cy="681866"/>
          </a:xfrm>
          <a:prstGeom prst="ellipse">
            <a:avLst/>
          </a:prstGeom>
          <a:gradFill rotWithShape="1">
            <a:gsLst>
              <a:gs pos="0">
                <a:srgbClr val="3A5C84">
                  <a:satMod val="103000"/>
                  <a:lumMod val="102000"/>
                  <a:tint val="94000"/>
                </a:srgbClr>
              </a:gs>
              <a:gs pos="50000">
                <a:srgbClr val="3A5C84">
                  <a:satMod val="110000"/>
                  <a:lumMod val="100000"/>
                  <a:shade val="100000"/>
                </a:srgbClr>
              </a:gs>
              <a:gs pos="100000">
                <a:srgbClr val="3A5C84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6350" cap="flat" cmpd="sng" algn="ctr">
            <a:solidFill>
              <a:srgbClr val="3A5C8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60" name="Oval 15">
            <a:extLst>
              <a:ext uri="{FF2B5EF4-FFF2-40B4-BE49-F238E27FC236}">
                <a16:creationId xmlns:a16="http://schemas.microsoft.com/office/drawing/2014/main" id="{D2319B02-3728-9B14-C4D3-BFCB952BF5C7}"/>
              </a:ext>
            </a:extLst>
          </p:cNvPr>
          <p:cNvSpPr/>
          <p:nvPr/>
        </p:nvSpPr>
        <p:spPr>
          <a:xfrm>
            <a:off x="1799466" y="1475167"/>
            <a:ext cx="681866" cy="681866"/>
          </a:xfrm>
          <a:prstGeom prst="ellipse">
            <a:avLst/>
          </a:prstGeom>
          <a:solidFill>
            <a:schemeClr val="accent2"/>
          </a:solidFill>
          <a:ln w="6350" cap="flat" cmpd="sng" algn="ctr">
            <a:solidFill>
              <a:srgbClr val="3A5C8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63" name="Oval 18">
            <a:extLst>
              <a:ext uri="{FF2B5EF4-FFF2-40B4-BE49-F238E27FC236}">
                <a16:creationId xmlns:a16="http://schemas.microsoft.com/office/drawing/2014/main" id="{477A4404-4540-6A0F-20A7-E978470D58B8}"/>
              </a:ext>
            </a:extLst>
          </p:cNvPr>
          <p:cNvSpPr/>
          <p:nvPr/>
        </p:nvSpPr>
        <p:spPr>
          <a:xfrm>
            <a:off x="9351134" y="4502000"/>
            <a:ext cx="681866" cy="681866"/>
          </a:xfrm>
          <a:prstGeom prst="ellipse">
            <a:avLst/>
          </a:prstGeom>
          <a:solidFill>
            <a:schemeClr val="accent4"/>
          </a:solidFill>
          <a:ln w="6350" cap="flat" cmpd="sng" algn="ctr">
            <a:solidFill>
              <a:srgbClr val="3A5C8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83219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FDF8E-F44E-6CEF-A374-F2706E8C8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C511EA69-0254-269A-6BEC-9DE66C8ADD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17586"/>
            <a:ext cx="12192000" cy="6857657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9623325B-783D-2F86-ADCE-C783DB697B2F}"/>
              </a:ext>
            </a:extLst>
          </p:cNvPr>
          <p:cNvSpPr txBox="1"/>
          <p:nvPr/>
        </p:nvSpPr>
        <p:spPr>
          <a:xfrm>
            <a:off x="1470702" y="726124"/>
            <a:ext cx="105278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bg1"/>
                </a:solidFill>
                <a:latin typeface="Gotham Black" pitchFamily="50" charset="0"/>
                <a:cs typeface="Gotham Black" pitchFamily="50" charset="0"/>
              </a:rPr>
              <a:t>Bénéficiaires et couverture territoriale</a:t>
            </a:r>
          </a:p>
        </p:txBody>
      </p: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1727B168-B31A-6090-312D-DFC7D70BA04A}"/>
              </a:ext>
            </a:extLst>
          </p:cNvPr>
          <p:cNvCxnSpPr>
            <a:cxnSpLocks/>
          </p:cNvCxnSpPr>
          <p:nvPr/>
        </p:nvCxnSpPr>
        <p:spPr>
          <a:xfrm>
            <a:off x="0" y="1099104"/>
            <a:ext cx="129018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aphicFrame>
        <p:nvGraphicFramePr>
          <p:cNvPr id="3" name="Tableau 2"/>
          <p:cNvGraphicFramePr>
            <a:graphicFrameLocks noGrp="1"/>
          </p:cNvGraphicFramePr>
          <p:nvPr/>
        </p:nvGraphicFramePr>
        <p:xfrm>
          <a:off x="756358" y="1875693"/>
          <a:ext cx="10802596" cy="451840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00218">
                  <a:extLst>
                    <a:ext uri="{9D8B030D-6E8A-4147-A177-3AD203B41FA5}">
                      <a16:colId xmlns:a16="http://schemas.microsoft.com/office/drawing/2014/main" val="981640916"/>
                    </a:ext>
                  </a:extLst>
                </a:gridCol>
                <a:gridCol w="7202378">
                  <a:extLst>
                    <a:ext uri="{9D8B030D-6E8A-4147-A177-3AD203B41FA5}">
                      <a16:colId xmlns:a16="http://schemas.microsoft.com/office/drawing/2014/main" val="3866555218"/>
                    </a:ext>
                  </a:extLst>
                </a:gridCol>
              </a:tblGrid>
              <a:tr h="729577">
                <a:tc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</a:pPr>
                      <a:br>
                        <a:rPr lang="fr-FR" sz="1800" kern="0" dirty="0">
                          <a:effectLst/>
                          <a:latin typeface="Trebuchet MS" panose="020B0603020202020204" pitchFamily="34" charset="0"/>
                        </a:rPr>
                      </a:br>
                      <a:endParaRPr lang="fr-FR" sz="1800" kern="0" dirty="0">
                        <a:effectLst/>
                        <a:latin typeface="Trebuchet MS" panose="020B0603020202020204" pitchFamily="34" charset="0"/>
                      </a:endParaRPr>
                    </a:p>
                    <a:p>
                      <a:pPr algn="ctr">
                        <a:lnSpc>
                          <a:spcPts val="960"/>
                        </a:lnSpc>
                      </a:pPr>
                      <a:r>
                        <a:rPr lang="en-GB" sz="1800" kern="100" dirty="0" err="1">
                          <a:effectLst/>
                          <a:latin typeface="Trebuchet MS" panose="020B0603020202020204" pitchFamily="34" charset="0"/>
                        </a:rPr>
                        <a:t>Projet</a:t>
                      </a:r>
                      <a:r>
                        <a:rPr lang="en-GB" sz="1800" kern="100" dirty="0">
                          <a:effectLst/>
                          <a:latin typeface="Trebuchet MS" panose="020B0603020202020204" pitchFamily="34" charset="0"/>
                        </a:rPr>
                        <a:t> </a:t>
                      </a:r>
                      <a:endParaRPr lang="fr-FR" sz="1800" kern="100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6195" marR="36195" marT="36195" marB="361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</a:pPr>
                      <a:endParaRPr lang="fr-FR" sz="1800" kern="100" dirty="0">
                        <a:effectLst/>
                        <a:latin typeface="Trebuchet MS" panose="020B0603020202020204" pitchFamily="34" charset="0"/>
                      </a:endParaRPr>
                    </a:p>
                    <a:p>
                      <a:pPr algn="ctr">
                        <a:lnSpc>
                          <a:spcPts val="960"/>
                        </a:lnSpc>
                      </a:pPr>
                      <a:endParaRPr lang="fr-FR" sz="1800" kern="100" dirty="0">
                        <a:effectLst/>
                        <a:latin typeface="Trebuchet MS" panose="020B0603020202020204" pitchFamily="34" charset="0"/>
                      </a:endParaRPr>
                    </a:p>
                    <a:p>
                      <a:pPr algn="ctr">
                        <a:lnSpc>
                          <a:spcPts val="960"/>
                        </a:lnSpc>
                      </a:pPr>
                      <a:r>
                        <a:rPr lang="fr-FR" sz="1800" kern="100" dirty="0">
                          <a:effectLst/>
                          <a:latin typeface="Trebuchet MS" panose="020B0603020202020204" pitchFamily="34" charset="0"/>
                        </a:rPr>
                        <a:t>Projet d’Appui au Renforcement de la Gestion Qualité dans les </a:t>
                      </a:r>
                    </a:p>
                    <a:p>
                      <a:pPr algn="ctr">
                        <a:lnSpc>
                          <a:spcPts val="960"/>
                        </a:lnSpc>
                      </a:pPr>
                      <a:endParaRPr lang="fr-FR" sz="1800" kern="100" dirty="0">
                        <a:effectLst/>
                        <a:latin typeface="Trebuchet MS" panose="020B0603020202020204" pitchFamily="34" charset="0"/>
                      </a:endParaRPr>
                    </a:p>
                    <a:p>
                      <a:pPr algn="ctr">
                        <a:lnSpc>
                          <a:spcPts val="960"/>
                        </a:lnSpc>
                      </a:pPr>
                      <a:r>
                        <a:rPr lang="fr-FR" sz="1800" kern="100" dirty="0">
                          <a:effectLst/>
                          <a:latin typeface="Trebuchet MS" panose="020B0603020202020204" pitchFamily="34" charset="0"/>
                        </a:rPr>
                        <a:t>PME</a:t>
                      </a:r>
                      <a:endParaRPr lang="fr-FR" sz="1800" kern="100" dirty="0">
                        <a:solidFill>
                          <a:srgbClr val="595959"/>
                        </a:solidFill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6195" marR="36195" marT="36195" marB="3619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6953750"/>
                  </a:ext>
                </a:extLst>
              </a:tr>
              <a:tr h="1071266">
                <a:tc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</a:pPr>
                      <a:endParaRPr lang="fr-FR" sz="1800" kern="100" dirty="0">
                        <a:effectLst/>
                        <a:latin typeface="Trebuchet MS" panose="020B0603020202020204" pitchFamily="34" charset="0"/>
                      </a:endParaRPr>
                    </a:p>
                    <a:p>
                      <a:pPr algn="ctr">
                        <a:lnSpc>
                          <a:spcPts val="960"/>
                        </a:lnSpc>
                      </a:pPr>
                      <a:endParaRPr lang="fr-FR" sz="1800" kern="100" dirty="0">
                        <a:effectLst/>
                        <a:latin typeface="Trebuchet MS" panose="020B0603020202020204" pitchFamily="34" charset="0"/>
                      </a:endParaRPr>
                    </a:p>
                    <a:p>
                      <a:pPr algn="ctr">
                        <a:lnSpc>
                          <a:spcPts val="960"/>
                        </a:lnSpc>
                      </a:pPr>
                      <a:endParaRPr lang="fr-FR" sz="1800" kern="100" dirty="0">
                        <a:effectLst/>
                        <a:latin typeface="Trebuchet MS" panose="020B0603020202020204" pitchFamily="34" charset="0"/>
                      </a:endParaRPr>
                    </a:p>
                    <a:p>
                      <a:pPr algn="ctr">
                        <a:lnSpc>
                          <a:spcPts val="960"/>
                        </a:lnSpc>
                      </a:pPr>
                      <a:r>
                        <a:rPr lang="fr-FR" sz="1800" kern="100" dirty="0">
                          <a:effectLst/>
                          <a:latin typeface="Trebuchet MS" panose="020B0603020202020204" pitchFamily="34" charset="0"/>
                        </a:rPr>
                        <a:t>Zone d’intervention </a:t>
                      </a:r>
                      <a:endParaRPr lang="fr-FR" sz="1800" kern="100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6195" marR="36195" marT="36195" marB="361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</a:pPr>
                      <a:endParaRPr lang="fr-FR" sz="1800" kern="100" dirty="0">
                        <a:effectLst/>
                        <a:latin typeface="Trebuchet MS" panose="020B0603020202020204" pitchFamily="34" charset="0"/>
                      </a:endParaRPr>
                    </a:p>
                    <a:p>
                      <a:pPr algn="ctr">
                        <a:lnSpc>
                          <a:spcPts val="960"/>
                        </a:lnSpc>
                      </a:pPr>
                      <a:r>
                        <a:rPr lang="fr-FR" sz="1800" kern="100" dirty="0">
                          <a:effectLst/>
                          <a:latin typeface="Trebuchet MS" panose="020B0603020202020204" pitchFamily="34" charset="0"/>
                        </a:rPr>
                        <a:t>Tout le territoire du Bénin</a:t>
                      </a:r>
                    </a:p>
                    <a:p>
                      <a:pPr algn="ctr">
                        <a:lnSpc>
                          <a:spcPts val="960"/>
                        </a:lnSpc>
                      </a:pPr>
                      <a:endParaRPr lang="fr-FR" sz="1800" kern="100" dirty="0">
                        <a:solidFill>
                          <a:srgbClr val="595959"/>
                        </a:solidFill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ts val="9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dirty="0">
                          <a:latin typeface="Trebuchet MS" panose="020B0603020202020204" pitchFamily="34" charset="0"/>
                          <a:cs typeface="Arial" panose="020B0604020202020204" pitchFamily="34" charset="0"/>
                        </a:rPr>
                        <a:t>12 départements couvrant 33 communes sur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ts val="9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800" b="1" dirty="0">
                        <a:latin typeface="Trebuchet MS" panose="020B0603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ts val="9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dirty="0">
                          <a:latin typeface="Trebuchet MS" panose="020B0603020202020204" pitchFamily="34" charset="0"/>
                          <a:cs typeface="Arial" panose="020B0604020202020204" pitchFamily="34" charset="0"/>
                        </a:rPr>
                        <a:t> les 77 du Bénin </a:t>
                      </a:r>
                    </a:p>
                    <a:p>
                      <a:pPr algn="ctr">
                        <a:lnSpc>
                          <a:spcPts val="960"/>
                        </a:lnSpc>
                      </a:pPr>
                      <a:endParaRPr lang="fr-FR" sz="1800" kern="100" dirty="0">
                        <a:solidFill>
                          <a:srgbClr val="595959"/>
                        </a:solidFill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6195" marR="36195" marT="36195" marB="36195"/>
                </a:tc>
                <a:extLst>
                  <a:ext uri="{0D108BD9-81ED-4DB2-BD59-A6C34878D82A}">
                    <a16:rowId xmlns:a16="http://schemas.microsoft.com/office/drawing/2014/main" val="2759717051"/>
                  </a:ext>
                </a:extLst>
              </a:tr>
              <a:tr h="480528">
                <a:tc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</a:pPr>
                      <a:endParaRPr lang="fr-FR" sz="1800" kern="100" dirty="0">
                        <a:effectLst/>
                        <a:latin typeface="Trebuchet MS" panose="020B0603020202020204" pitchFamily="34" charset="0"/>
                      </a:endParaRPr>
                    </a:p>
                    <a:p>
                      <a:pPr algn="ctr">
                        <a:lnSpc>
                          <a:spcPts val="960"/>
                        </a:lnSpc>
                      </a:pPr>
                      <a:r>
                        <a:rPr lang="fr-FR" sz="1800" kern="100" dirty="0">
                          <a:solidFill>
                            <a:schemeClr val="lt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Bénéficiaires</a:t>
                      </a:r>
                      <a:endParaRPr lang="fr-FR" sz="1800" kern="100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6195" marR="36195" marT="36195" marB="361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</a:pPr>
                      <a:endParaRPr lang="fr-FR" sz="1800" kern="100" dirty="0">
                        <a:effectLst/>
                        <a:latin typeface="Trebuchet MS" panose="020B0603020202020204" pitchFamily="34" charset="0"/>
                      </a:endParaRPr>
                    </a:p>
                    <a:p>
                      <a:pPr algn="ctr">
                        <a:lnSpc>
                          <a:spcPts val="960"/>
                        </a:lnSpc>
                      </a:pPr>
                      <a:r>
                        <a:rPr lang="fr-FR" sz="1800" kern="100" dirty="0">
                          <a:solidFill>
                            <a:schemeClr val="dk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PME</a:t>
                      </a:r>
                      <a:r>
                        <a:rPr lang="fr-FR" sz="1800" kern="100" baseline="0" dirty="0">
                          <a:solidFill>
                            <a:schemeClr val="dk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 exportatrices ou prêtes à l’exportation</a:t>
                      </a:r>
                      <a:endParaRPr lang="fr-FR" sz="1800" kern="100" dirty="0">
                        <a:solidFill>
                          <a:srgbClr val="595959"/>
                        </a:solidFill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6195" marR="36195" marT="36195" marB="36195"/>
                </a:tc>
                <a:extLst>
                  <a:ext uri="{0D108BD9-81ED-4DB2-BD59-A6C34878D82A}">
                    <a16:rowId xmlns:a16="http://schemas.microsoft.com/office/drawing/2014/main" val="610366353"/>
                  </a:ext>
                </a:extLst>
              </a:tr>
              <a:tr h="554346">
                <a:tc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</a:pPr>
                      <a:endParaRPr lang="fr-FR" sz="1800" kern="100" dirty="0">
                        <a:effectLst/>
                        <a:latin typeface="Trebuchet MS" panose="020B0603020202020204" pitchFamily="34" charset="0"/>
                      </a:endParaRPr>
                    </a:p>
                    <a:p>
                      <a:pPr algn="ctr">
                        <a:lnSpc>
                          <a:spcPts val="960"/>
                        </a:lnSpc>
                      </a:pPr>
                      <a:endParaRPr lang="fr-FR" sz="1800" kern="100" dirty="0">
                        <a:effectLst/>
                        <a:latin typeface="Trebuchet MS" panose="020B0603020202020204" pitchFamily="34" charset="0"/>
                      </a:endParaRPr>
                    </a:p>
                    <a:p>
                      <a:pPr algn="ctr">
                        <a:lnSpc>
                          <a:spcPts val="960"/>
                        </a:lnSpc>
                      </a:pPr>
                      <a:r>
                        <a:rPr lang="fr-FR" sz="1800" kern="100" dirty="0">
                          <a:effectLst/>
                          <a:latin typeface="Trebuchet MS" panose="020B0603020202020204" pitchFamily="34" charset="0"/>
                        </a:rPr>
                        <a:t>Durée d’exécution</a:t>
                      </a:r>
                    </a:p>
                    <a:p>
                      <a:pPr algn="ctr">
                        <a:lnSpc>
                          <a:spcPts val="960"/>
                        </a:lnSpc>
                      </a:pPr>
                      <a:endParaRPr lang="fr-FR" sz="1800" kern="100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6195" marR="36195" marT="36195" marB="361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</a:pPr>
                      <a:endParaRPr lang="fr-FR" sz="1800" kern="100" dirty="0">
                        <a:effectLst/>
                        <a:latin typeface="Trebuchet MS" panose="020B0603020202020204" pitchFamily="34" charset="0"/>
                      </a:endParaRPr>
                    </a:p>
                    <a:p>
                      <a:pPr algn="ctr">
                        <a:lnSpc>
                          <a:spcPts val="960"/>
                        </a:lnSpc>
                      </a:pPr>
                      <a:endParaRPr lang="fr-FR" sz="1800" kern="100" dirty="0">
                        <a:effectLst/>
                        <a:latin typeface="Trebuchet MS" panose="020B0603020202020204" pitchFamily="34" charset="0"/>
                      </a:endParaRPr>
                    </a:p>
                    <a:p>
                      <a:pPr algn="ctr">
                        <a:lnSpc>
                          <a:spcPts val="960"/>
                        </a:lnSpc>
                      </a:pPr>
                      <a:r>
                        <a:rPr lang="fr-FR" sz="1800" kern="100" dirty="0">
                          <a:effectLst/>
                          <a:latin typeface="Trebuchet MS" panose="020B0603020202020204" pitchFamily="34" charset="0"/>
                        </a:rPr>
                        <a:t>15.03.2025 – 15.05.2026</a:t>
                      </a:r>
                      <a:endParaRPr lang="fr-FR" sz="1800" kern="100" dirty="0">
                        <a:solidFill>
                          <a:srgbClr val="595959"/>
                        </a:solidFill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6195" marR="36195" marT="36195" marB="36195"/>
                </a:tc>
                <a:extLst>
                  <a:ext uri="{0D108BD9-81ED-4DB2-BD59-A6C34878D82A}">
                    <a16:rowId xmlns:a16="http://schemas.microsoft.com/office/drawing/2014/main" val="3718058501"/>
                  </a:ext>
                </a:extLst>
              </a:tr>
              <a:tr h="1635883">
                <a:tc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</a:pPr>
                      <a:endParaRPr lang="fr-FR" sz="1800" kern="100" dirty="0">
                        <a:effectLst/>
                        <a:latin typeface="Trebuchet MS" panose="020B0603020202020204" pitchFamily="34" charset="0"/>
                      </a:endParaRPr>
                    </a:p>
                    <a:p>
                      <a:pPr algn="ctr">
                        <a:lnSpc>
                          <a:spcPts val="960"/>
                        </a:lnSpc>
                      </a:pPr>
                      <a:endParaRPr lang="fr-FR" sz="1800" kern="100" dirty="0">
                        <a:effectLst/>
                        <a:latin typeface="Trebuchet MS" panose="020B0603020202020204" pitchFamily="34" charset="0"/>
                      </a:endParaRPr>
                    </a:p>
                    <a:p>
                      <a:pPr algn="ctr">
                        <a:lnSpc>
                          <a:spcPts val="960"/>
                        </a:lnSpc>
                      </a:pPr>
                      <a:endParaRPr lang="fr-FR" sz="1800" kern="100" dirty="0">
                        <a:effectLst/>
                        <a:latin typeface="Trebuchet MS" panose="020B0603020202020204" pitchFamily="34" charset="0"/>
                      </a:endParaRPr>
                    </a:p>
                    <a:p>
                      <a:pPr algn="ctr">
                        <a:lnSpc>
                          <a:spcPts val="960"/>
                        </a:lnSpc>
                      </a:pPr>
                      <a:endParaRPr lang="fr-FR" sz="1800" kern="100" dirty="0">
                        <a:effectLst/>
                        <a:latin typeface="Trebuchet MS" panose="020B0603020202020204" pitchFamily="34" charset="0"/>
                      </a:endParaRPr>
                    </a:p>
                    <a:p>
                      <a:pPr algn="ctr">
                        <a:lnSpc>
                          <a:spcPts val="960"/>
                        </a:lnSpc>
                      </a:pPr>
                      <a:r>
                        <a:rPr lang="fr-FR" sz="1800" kern="100" dirty="0">
                          <a:effectLst/>
                          <a:latin typeface="Trebuchet MS" panose="020B0603020202020204" pitchFamily="34" charset="0"/>
                        </a:rPr>
                        <a:t>Budget</a:t>
                      </a:r>
                      <a:endParaRPr lang="fr-FR" sz="1800" kern="100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6195" marR="36195" marT="36195" marB="361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 kern="100" dirty="0">
                          <a:effectLst/>
                          <a:latin typeface="Trebuchet MS" panose="020B0603020202020204" pitchFamily="34" charset="0"/>
                        </a:rPr>
                        <a:t>GIZ Togo : </a:t>
                      </a:r>
                      <a:r>
                        <a:rPr lang="en-GB" sz="1800" kern="100" dirty="0">
                          <a:effectLst/>
                          <a:latin typeface="Trebuchet MS" panose="020B0603020202020204" pitchFamily="34" charset="0"/>
                        </a:rPr>
                        <a:t>147 237,89</a:t>
                      </a:r>
                      <a:r>
                        <a:rPr lang="fr-FR" sz="1800" kern="100" dirty="0">
                          <a:effectLst/>
                          <a:latin typeface="Trebuchet MS" panose="020B0603020202020204" pitchFamily="34" charset="0"/>
                        </a:rPr>
                        <a:t> euros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 kern="100" dirty="0">
                          <a:effectLst/>
                          <a:latin typeface="Trebuchet MS" panose="020B0603020202020204" pitchFamily="34" charset="0"/>
                        </a:rPr>
                        <a:t>CCI Bénin : </a:t>
                      </a:r>
                      <a:r>
                        <a:rPr lang="en-GB" sz="1800" kern="100" dirty="0">
                          <a:effectLst/>
                          <a:latin typeface="Trebuchet MS" panose="020B0603020202020204" pitchFamily="34" charset="0"/>
                        </a:rPr>
                        <a:t>8 605,75 </a:t>
                      </a:r>
                      <a:r>
                        <a:rPr lang="fr-FR" sz="1800" kern="100" dirty="0">
                          <a:effectLst/>
                          <a:latin typeface="Trebuchet MS" panose="020B0603020202020204" pitchFamily="34" charset="0"/>
                        </a:rPr>
                        <a:t>euros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 kern="100" dirty="0">
                          <a:effectLst/>
                          <a:latin typeface="Trebuchet MS" panose="020B0603020202020204" pitchFamily="34" charset="0"/>
                        </a:rPr>
                        <a:t>Budget total : </a:t>
                      </a:r>
                      <a:r>
                        <a:rPr lang="en-GB" sz="1800" kern="100" dirty="0">
                          <a:effectLst/>
                          <a:latin typeface="Trebuchet MS" panose="020B0603020202020204" pitchFamily="34" charset="0"/>
                        </a:rPr>
                        <a:t>155 843,64 </a:t>
                      </a:r>
                      <a:r>
                        <a:rPr lang="fr-FR" sz="1800" kern="100" dirty="0">
                          <a:effectLst/>
                          <a:latin typeface="Trebuchet MS" panose="020B0603020202020204" pitchFamily="34" charset="0"/>
                        </a:rPr>
                        <a:t>euros</a:t>
                      </a:r>
                      <a:endParaRPr lang="fr-FR" sz="1800" kern="100" dirty="0">
                        <a:solidFill>
                          <a:srgbClr val="595959"/>
                        </a:solidFill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6195" marR="36195" marT="36195" marB="36195"/>
                </a:tc>
                <a:extLst>
                  <a:ext uri="{0D108BD9-81ED-4DB2-BD59-A6C34878D82A}">
                    <a16:rowId xmlns:a16="http://schemas.microsoft.com/office/drawing/2014/main" val="23442233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1356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B3D15-3224-B816-A7E4-98F9F7136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25FE9DC8-75A4-E0EA-1383-2D759F4956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11724"/>
            <a:ext cx="12192000" cy="6857657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FCCF84A4-4A2C-8FD7-0AB1-B132AF88AF46}"/>
              </a:ext>
            </a:extLst>
          </p:cNvPr>
          <p:cNvSpPr txBox="1"/>
          <p:nvPr/>
        </p:nvSpPr>
        <p:spPr>
          <a:xfrm>
            <a:off x="1470702" y="726124"/>
            <a:ext cx="58679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bg1"/>
                </a:solidFill>
                <a:latin typeface="Gotham Black" pitchFamily="50" charset="0"/>
                <a:cs typeface="Gotham Black" pitchFamily="50" charset="0"/>
              </a:rPr>
              <a:t>Réalisations</a:t>
            </a:r>
          </a:p>
        </p:txBody>
      </p: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E44A8AC6-E132-148F-6F5B-2652D1300D78}"/>
              </a:ext>
            </a:extLst>
          </p:cNvPr>
          <p:cNvCxnSpPr>
            <a:cxnSpLocks/>
          </p:cNvCxnSpPr>
          <p:nvPr/>
        </p:nvCxnSpPr>
        <p:spPr>
          <a:xfrm>
            <a:off x="0" y="1099104"/>
            <a:ext cx="129018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AF6CEE9B-BEB8-B953-38EB-8493736094DE}"/>
              </a:ext>
            </a:extLst>
          </p:cNvPr>
          <p:cNvCxnSpPr>
            <a:cxnSpLocks/>
          </p:cNvCxnSpPr>
          <p:nvPr/>
        </p:nvCxnSpPr>
        <p:spPr>
          <a:xfrm>
            <a:off x="7393858" y="1099104"/>
            <a:ext cx="466967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7860323" y="2616849"/>
            <a:ext cx="4108939" cy="27347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06000"/>
              </a:lnSpc>
              <a:spcAft>
                <a:spcPts val="0"/>
              </a:spcAft>
              <a:buFont typeface=" Arial ,sans-serif"/>
              <a:buChar char="-"/>
            </a:pPr>
            <a:r>
              <a:rPr lang="fr-FR" b="1" kern="100" dirty="0">
                <a:latin typeface="Trebuchet MS" panose="020B0603020202020204" pitchFamily="34" charset="0"/>
                <a:ea typeface="Aptos"/>
                <a:cs typeface="Times New Roman" panose="02020603050405020304" pitchFamily="18" charset="0"/>
              </a:rPr>
              <a:t>110 PME formées</a:t>
            </a:r>
            <a:r>
              <a:rPr lang="fr-FR" kern="100" dirty="0">
                <a:latin typeface="Trebuchet MS" panose="020B0603020202020204" pitchFamily="34" charset="0"/>
                <a:ea typeface="Aptos"/>
                <a:cs typeface="Times New Roman" panose="02020603050405020304" pitchFamily="18" charset="0"/>
              </a:rPr>
              <a:t> sur le SMQ, dont </a:t>
            </a:r>
            <a:r>
              <a:rPr lang="fr-FR" b="1" kern="100" dirty="0">
                <a:latin typeface="Trebuchet MS" panose="020B0603020202020204" pitchFamily="34" charset="0"/>
                <a:ea typeface="Aptos"/>
                <a:cs typeface="Times New Roman" panose="02020603050405020304" pitchFamily="18" charset="0"/>
              </a:rPr>
              <a:t>49,45 % dirigées par des femmes</a:t>
            </a:r>
            <a:endParaRPr lang="fr-FR" kern="100" dirty="0">
              <a:latin typeface="Trebuchet MS" panose="020B0603020202020204" pitchFamily="34" charset="0"/>
              <a:ea typeface="Aptos"/>
              <a:cs typeface="Times New Roman" panose="02020603050405020304" pitchFamily="18" charset="0"/>
            </a:endParaRPr>
          </a:p>
          <a:p>
            <a:pPr marL="180340">
              <a:lnSpc>
                <a:spcPct val="106000"/>
              </a:lnSpc>
              <a:spcAft>
                <a:spcPts val="0"/>
              </a:spcAft>
            </a:pPr>
            <a:r>
              <a:rPr lang="fr-FR" kern="100" dirty="0">
                <a:latin typeface="Trebuchet MS" panose="020B0603020202020204" pitchFamily="34" charset="0"/>
                <a:ea typeface="Aptos"/>
                <a:cs typeface="Times New Roman" panose="02020603050405020304" pitchFamily="18" charset="0"/>
              </a:rPr>
              <a:t> </a:t>
            </a:r>
          </a:p>
          <a:p>
            <a:pPr marL="342900" lvl="0" indent="-342900">
              <a:lnSpc>
                <a:spcPct val="106000"/>
              </a:lnSpc>
              <a:spcAft>
                <a:spcPts val="0"/>
              </a:spcAft>
              <a:buFont typeface=" Arial ,sans-serif"/>
              <a:buChar char="-"/>
            </a:pPr>
            <a:r>
              <a:rPr lang="fr-FR" b="1" kern="100" dirty="0">
                <a:latin typeface="Trebuchet MS" panose="020B0603020202020204" pitchFamily="34" charset="0"/>
                <a:ea typeface="Aptos"/>
                <a:cs typeface="Times New Roman" panose="02020603050405020304" pitchFamily="18" charset="0"/>
              </a:rPr>
              <a:t>84 % des représentants des entreprises formées </a:t>
            </a:r>
            <a:r>
              <a:rPr lang="fr-FR" kern="100" dirty="0">
                <a:latin typeface="Trebuchet MS" panose="020B0603020202020204" pitchFamily="34" charset="0"/>
                <a:ea typeface="Aptos"/>
                <a:cs typeface="Times New Roman" panose="02020603050405020304" pitchFamily="18" charset="0"/>
              </a:rPr>
              <a:t>confirment que leurs connaissances en matière de gestion de la qualité se sont améliorées.</a:t>
            </a:r>
          </a:p>
        </p:txBody>
      </p:sp>
      <p:graphicFrame>
        <p:nvGraphicFramePr>
          <p:cNvPr id="9" name="Graphique 8">
            <a:extLst>
              <a:ext uri="{FF2B5EF4-FFF2-40B4-BE49-F238E27FC236}">
                <a16:creationId xmlns:a16="http://schemas.microsoft.com/office/drawing/2014/main" id="{349F2D97-C98C-BCCE-C606-FBBFA4462457}"/>
              </a:ext>
            </a:extLst>
          </p:cNvPr>
          <p:cNvGraphicFramePr>
            <a:graphicFrameLocks/>
          </p:cNvGraphicFramePr>
          <p:nvPr/>
        </p:nvGraphicFramePr>
        <p:xfrm>
          <a:off x="722506" y="1951628"/>
          <a:ext cx="6217555" cy="42770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62586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B3D15-3224-B816-A7E4-98F9F7136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25FE9DC8-75A4-E0EA-1383-2D759F4956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1546" y="-240322"/>
            <a:ext cx="12192000" cy="6857657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FCCF84A4-4A2C-8FD7-0AB1-B132AF88AF46}"/>
              </a:ext>
            </a:extLst>
          </p:cNvPr>
          <p:cNvSpPr txBox="1"/>
          <p:nvPr/>
        </p:nvSpPr>
        <p:spPr>
          <a:xfrm>
            <a:off x="1429671" y="418892"/>
            <a:ext cx="58679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bg1"/>
                </a:solidFill>
                <a:latin typeface="Gotham Black" pitchFamily="50" charset="0"/>
                <a:cs typeface="Gotham Black" pitchFamily="50" charset="0"/>
              </a:rPr>
              <a:t>Réalisations</a:t>
            </a:r>
          </a:p>
        </p:txBody>
      </p: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E44A8AC6-E132-148F-6F5B-2652D1300D78}"/>
              </a:ext>
            </a:extLst>
          </p:cNvPr>
          <p:cNvCxnSpPr>
            <a:cxnSpLocks/>
          </p:cNvCxnSpPr>
          <p:nvPr/>
        </p:nvCxnSpPr>
        <p:spPr>
          <a:xfrm>
            <a:off x="0" y="712242"/>
            <a:ext cx="129018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AF6CEE9B-BEB8-B953-38EB-8493736094DE}"/>
              </a:ext>
            </a:extLst>
          </p:cNvPr>
          <p:cNvCxnSpPr>
            <a:cxnSpLocks/>
          </p:cNvCxnSpPr>
          <p:nvPr/>
        </p:nvCxnSpPr>
        <p:spPr>
          <a:xfrm>
            <a:off x="7393858" y="723966"/>
            <a:ext cx="466967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aphicFrame>
        <p:nvGraphicFramePr>
          <p:cNvPr id="3" name="Tableau 2"/>
          <p:cNvGraphicFramePr>
            <a:graphicFrameLocks noGrp="1"/>
          </p:cNvGraphicFramePr>
          <p:nvPr/>
        </p:nvGraphicFramePr>
        <p:xfrm>
          <a:off x="961293" y="1493004"/>
          <a:ext cx="10392507" cy="51397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93936">
                  <a:extLst>
                    <a:ext uri="{9D8B030D-6E8A-4147-A177-3AD203B41FA5}">
                      <a16:colId xmlns:a16="http://schemas.microsoft.com/office/drawing/2014/main" val="3209551459"/>
                    </a:ext>
                  </a:extLst>
                </a:gridCol>
                <a:gridCol w="7198571">
                  <a:extLst>
                    <a:ext uri="{9D8B030D-6E8A-4147-A177-3AD203B41FA5}">
                      <a16:colId xmlns:a16="http://schemas.microsoft.com/office/drawing/2014/main" val="1511826773"/>
                    </a:ext>
                  </a:extLst>
                </a:gridCol>
              </a:tblGrid>
              <a:tr h="21046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kern="100" dirty="0">
                          <a:effectLst/>
                          <a:latin typeface="Trebuchet MS" panose="020B0603020202020204" pitchFamily="34" charset="0"/>
                        </a:rPr>
                        <a:t>Secteur d’activité</a:t>
                      </a:r>
                      <a:endParaRPr lang="fr-FR" sz="1600" kern="100" dirty="0"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kern="100" dirty="0">
                          <a:effectLst/>
                          <a:latin typeface="Trebuchet MS" panose="020B0603020202020204" pitchFamily="34" charset="0"/>
                        </a:rPr>
                        <a:t>Nombre de PME</a:t>
                      </a:r>
                      <a:endParaRPr lang="fr-FR" sz="1600" kern="100" dirty="0"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1704630"/>
                  </a:ext>
                </a:extLst>
              </a:tr>
              <a:tr h="21046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kern="100" dirty="0">
                          <a:effectLst/>
                          <a:latin typeface="Trebuchet MS" panose="020B0603020202020204" pitchFamily="34" charset="0"/>
                        </a:rPr>
                        <a:t>Cosmétiques</a:t>
                      </a:r>
                      <a:endParaRPr lang="fr-FR" sz="1600" kern="100" dirty="0"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kern="100" dirty="0">
                          <a:effectLst/>
                          <a:latin typeface="Trebuchet MS" panose="020B0603020202020204" pitchFamily="34" charset="0"/>
                        </a:rPr>
                        <a:t>1</a:t>
                      </a:r>
                      <a:endParaRPr lang="fr-FR" sz="1600" kern="100" dirty="0"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751895732"/>
                  </a:ext>
                </a:extLst>
              </a:tr>
              <a:tr h="10297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kern="100" dirty="0">
                          <a:effectLst/>
                          <a:latin typeface="Trebuchet MS" panose="020B0603020202020204" pitchFamily="34" charset="0"/>
                        </a:rPr>
                        <a:t>Industries Agro-alimentaires</a:t>
                      </a:r>
                      <a:endParaRPr lang="fr-FR" sz="1600" kern="100" dirty="0"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kern="100" dirty="0">
                          <a:effectLst/>
                          <a:latin typeface="Trebuchet MS" panose="020B0603020202020204" pitchFamily="34" charset="0"/>
                        </a:rPr>
                        <a:t>28</a:t>
                      </a:r>
                      <a:endParaRPr lang="fr-FR" sz="1600" kern="100" dirty="0"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835038258"/>
                  </a:ext>
                </a:extLst>
              </a:tr>
              <a:tr h="21046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kern="100" dirty="0">
                          <a:effectLst/>
                          <a:latin typeface="Trebuchet MS" panose="020B0603020202020204" pitchFamily="34" charset="0"/>
                        </a:rPr>
                        <a:t>Textile</a:t>
                      </a:r>
                      <a:endParaRPr lang="fr-FR" sz="1600" kern="100" dirty="0"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kern="100" dirty="0">
                          <a:effectLst/>
                          <a:latin typeface="Trebuchet MS" panose="020B0603020202020204" pitchFamily="34" charset="0"/>
                        </a:rPr>
                        <a:t>1</a:t>
                      </a:r>
                      <a:endParaRPr lang="fr-FR" sz="1600" kern="100" dirty="0"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501322517"/>
                  </a:ext>
                </a:extLst>
              </a:tr>
              <a:tr h="21046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kern="100" dirty="0">
                          <a:effectLst/>
                          <a:latin typeface="Trebuchet MS" panose="020B0603020202020204" pitchFamily="34" charset="0"/>
                        </a:rPr>
                        <a:t>Total général</a:t>
                      </a:r>
                      <a:endParaRPr lang="fr-FR" sz="1600" kern="100" dirty="0"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b="1" kern="100" dirty="0">
                          <a:effectLst/>
                          <a:latin typeface="Trebuchet MS" panose="020B0603020202020204" pitchFamily="34" charset="0"/>
                        </a:rPr>
                        <a:t>30</a:t>
                      </a:r>
                      <a:endParaRPr lang="fr-FR" sz="1600" b="1" kern="100" dirty="0"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76069254"/>
                  </a:ext>
                </a:extLst>
              </a:tr>
              <a:tr h="21046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fr-FR" sz="1600" kern="100" dirty="0">
                        <a:effectLst/>
                        <a:latin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fr-FR" sz="1600" kern="100" dirty="0">
                        <a:effectLst/>
                        <a:latin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548029331"/>
                  </a:ext>
                </a:extLst>
              </a:tr>
              <a:tr h="21046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kern="100" dirty="0">
                          <a:effectLst/>
                          <a:latin typeface="Trebuchet MS" panose="020B0603020202020204" pitchFamily="34" charset="0"/>
                        </a:rPr>
                        <a:t>Sexe</a:t>
                      </a:r>
                      <a:endParaRPr lang="fr-FR" sz="1600" kern="100" dirty="0"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b="1" kern="100" dirty="0"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</a:rPr>
                        <a:t>Nombre de PME</a:t>
                      </a:r>
                      <a:endParaRPr lang="fr-FR" sz="1600" b="1" kern="100" dirty="0"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320325"/>
                  </a:ext>
                </a:extLst>
              </a:tr>
              <a:tr h="21046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kern="100" dirty="0">
                          <a:effectLst/>
                          <a:latin typeface="Trebuchet MS" panose="020B0603020202020204" pitchFamily="34" charset="0"/>
                        </a:rPr>
                        <a:t>Féminin</a:t>
                      </a:r>
                      <a:endParaRPr lang="fr-FR" sz="1600" kern="100" dirty="0"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kern="100" dirty="0">
                          <a:effectLst/>
                          <a:latin typeface="Trebuchet MS" panose="020B0603020202020204" pitchFamily="34" charset="0"/>
                        </a:rPr>
                        <a:t>16</a:t>
                      </a:r>
                      <a:endParaRPr lang="fr-FR" sz="1600" kern="100" dirty="0"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162163215"/>
                  </a:ext>
                </a:extLst>
              </a:tr>
              <a:tr h="21046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kern="100" dirty="0">
                          <a:effectLst/>
                          <a:latin typeface="Trebuchet MS" panose="020B0603020202020204" pitchFamily="34" charset="0"/>
                        </a:rPr>
                        <a:t>Masculin</a:t>
                      </a:r>
                      <a:endParaRPr lang="fr-FR" sz="1600" kern="100" dirty="0"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kern="100" dirty="0">
                          <a:effectLst/>
                          <a:latin typeface="Trebuchet MS" panose="020B0603020202020204" pitchFamily="34" charset="0"/>
                        </a:rPr>
                        <a:t>14</a:t>
                      </a:r>
                      <a:endParaRPr lang="fr-FR" sz="1600" kern="100" dirty="0"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717912983"/>
                  </a:ext>
                </a:extLst>
              </a:tr>
              <a:tr h="21046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kern="100" dirty="0">
                          <a:effectLst/>
                          <a:latin typeface="Trebuchet MS" panose="020B0603020202020204" pitchFamily="34" charset="0"/>
                        </a:rPr>
                        <a:t>Total général</a:t>
                      </a:r>
                      <a:endParaRPr lang="fr-FR" sz="1600" kern="100" dirty="0"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b="1" kern="100" dirty="0">
                          <a:effectLst/>
                          <a:latin typeface="Trebuchet MS" panose="020B0603020202020204" pitchFamily="34" charset="0"/>
                        </a:rPr>
                        <a:t>30</a:t>
                      </a:r>
                      <a:endParaRPr lang="fr-FR" sz="1600" b="1" kern="100" dirty="0"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854473823"/>
                  </a:ext>
                </a:extLst>
              </a:tr>
              <a:tr h="21046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fr-FR" sz="1600" kern="100" dirty="0">
                        <a:effectLst/>
                        <a:latin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fr-FR" sz="1600" kern="100" dirty="0">
                        <a:effectLst/>
                        <a:latin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787361308"/>
                  </a:ext>
                </a:extLst>
              </a:tr>
              <a:tr h="21046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kern="100" dirty="0">
                          <a:effectLst/>
                          <a:latin typeface="Trebuchet MS" panose="020B0603020202020204" pitchFamily="34" charset="0"/>
                        </a:rPr>
                        <a:t>Département </a:t>
                      </a:r>
                      <a:endParaRPr lang="fr-FR" sz="1600" kern="100" dirty="0"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b="1" kern="100" dirty="0"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</a:rPr>
                        <a:t>Nombre de PME</a:t>
                      </a:r>
                      <a:endParaRPr lang="fr-FR" sz="1600" b="1" kern="100" dirty="0"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302845"/>
                  </a:ext>
                </a:extLst>
              </a:tr>
              <a:tr h="21046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kern="100" dirty="0">
                          <a:effectLst/>
                          <a:latin typeface="Trebuchet MS" panose="020B0603020202020204" pitchFamily="34" charset="0"/>
                        </a:rPr>
                        <a:t>Atlantique</a:t>
                      </a:r>
                      <a:endParaRPr lang="fr-FR" sz="1600" kern="100" dirty="0"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kern="100" dirty="0">
                          <a:effectLst/>
                          <a:latin typeface="Trebuchet MS" panose="020B0603020202020204" pitchFamily="34" charset="0"/>
                        </a:rPr>
                        <a:t>13</a:t>
                      </a:r>
                      <a:endParaRPr lang="fr-FR" sz="1600" kern="100" dirty="0"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004467233"/>
                  </a:ext>
                </a:extLst>
              </a:tr>
              <a:tr h="21046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kern="100" dirty="0" err="1">
                          <a:effectLst/>
                          <a:latin typeface="Trebuchet MS" panose="020B0603020202020204" pitchFamily="34" charset="0"/>
                        </a:rPr>
                        <a:t>Borgou</a:t>
                      </a:r>
                      <a:endParaRPr lang="fr-FR" sz="1600" kern="100" dirty="0"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kern="100" dirty="0">
                          <a:effectLst/>
                          <a:latin typeface="Trebuchet MS" panose="020B0603020202020204" pitchFamily="34" charset="0"/>
                        </a:rPr>
                        <a:t>4</a:t>
                      </a:r>
                      <a:endParaRPr lang="fr-FR" sz="1600" kern="100" dirty="0"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271485267"/>
                  </a:ext>
                </a:extLst>
              </a:tr>
              <a:tr h="21046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kern="100" dirty="0">
                          <a:effectLst/>
                          <a:latin typeface="Trebuchet MS" panose="020B0603020202020204" pitchFamily="34" charset="0"/>
                        </a:rPr>
                        <a:t>Collines</a:t>
                      </a:r>
                      <a:endParaRPr lang="fr-FR" sz="1600" kern="100" dirty="0"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kern="100" dirty="0">
                          <a:effectLst/>
                          <a:latin typeface="Trebuchet MS" panose="020B0603020202020204" pitchFamily="34" charset="0"/>
                        </a:rPr>
                        <a:t>1</a:t>
                      </a:r>
                      <a:endParaRPr lang="fr-FR" sz="1600" kern="100" dirty="0"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4053606529"/>
                  </a:ext>
                </a:extLst>
              </a:tr>
              <a:tr h="21046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kern="100" dirty="0">
                          <a:effectLst/>
                          <a:latin typeface="Trebuchet MS" panose="020B0603020202020204" pitchFamily="34" charset="0"/>
                        </a:rPr>
                        <a:t>Littoral</a:t>
                      </a:r>
                      <a:endParaRPr lang="fr-FR" sz="1600" kern="100" dirty="0"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kern="100" dirty="0">
                          <a:effectLst/>
                          <a:latin typeface="Trebuchet MS" panose="020B0603020202020204" pitchFamily="34" charset="0"/>
                        </a:rPr>
                        <a:t>1</a:t>
                      </a:r>
                      <a:endParaRPr lang="fr-FR" sz="1600" kern="100" dirty="0"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380220378"/>
                  </a:ext>
                </a:extLst>
              </a:tr>
              <a:tr h="21046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kern="100" dirty="0">
                          <a:effectLst/>
                          <a:latin typeface="Trebuchet MS" panose="020B0603020202020204" pitchFamily="34" charset="0"/>
                        </a:rPr>
                        <a:t>Mono</a:t>
                      </a:r>
                      <a:endParaRPr lang="fr-FR" sz="1600" kern="100" dirty="0"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kern="100" dirty="0">
                          <a:effectLst/>
                          <a:latin typeface="Trebuchet MS" panose="020B0603020202020204" pitchFamily="34" charset="0"/>
                        </a:rPr>
                        <a:t>1</a:t>
                      </a:r>
                      <a:endParaRPr lang="fr-FR" sz="1600" kern="100" dirty="0"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917484637"/>
                  </a:ext>
                </a:extLst>
              </a:tr>
              <a:tr h="21046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kern="100" dirty="0">
                          <a:effectLst/>
                          <a:latin typeface="Trebuchet MS" panose="020B0603020202020204" pitchFamily="34" charset="0"/>
                        </a:rPr>
                        <a:t>Ouémé</a:t>
                      </a:r>
                      <a:endParaRPr lang="fr-FR" sz="1600" kern="100" dirty="0"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kern="100" dirty="0">
                          <a:effectLst/>
                          <a:latin typeface="Trebuchet MS" panose="020B0603020202020204" pitchFamily="34" charset="0"/>
                        </a:rPr>
                        <a:t>5</a:t>
                      </a:r>
                      <a:endParaRPr lang="fr-FR" sz="1600" kern="100" dirty="0"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912436075"/>
                  </a:ext>
                </a:extLst>
              </a:tr>
              <a:tr h="21046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kern="100" dirty="0">
                          <a:effectLst/>
                          <a:latin typeface="Trebuchet MS" panose="020B0603020202020204" pitchFamily="34" charset="0"/>
                        </a:rPr>
                        <a:t>Zou</a:t>
                      </a:r>
                      <a:endParaRPr lang="fr-FR" sz="1600" kern="100" dirty="0"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kern="100" dirty="0">
                          <a:effectLst/>
                          <a:latin typeface="Trebuchet MS" panose="020B0603020202020204" pitchFamily="34" charset="0"/>
                        </a:rPr>
                        <a:t>5</a:t>
                      </a:r>
                      <a:endParaRPr lang="fr-FR" sz="1600" kern="100" dirty="0"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350969173"/>
                  </a:ext>
                </a:extLst>
              </a:tr>
              <a:tr h="21046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kern="100" dirty="0">
                          <a:effectLst/>
                          <a:latin typeface="Trebuchet MS" panose="020B0603020202020204" pitchFamily="34" charset="0"/>
                        </a:rPr>
                        <a:t>Total général</a:t>
                      </a:r>
                      <a:endParaRPr lang="fr-FR" sz="1600" kern="100" dirty="0"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b="1" kern="100" dirty="0">
                          <a:effectLst/>
                          <a:latin typeface="Trebuchet MS" panose="020B0603020202020204" pitchFamily="34" charset="0"/>
                        </a:rPr>
                        <a:t>30</a:t>
                      </a:r>
                      <a:endParaRPr lang="fr-FR" sz="1600" b="1" kern="100" dirty="0"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6561802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6085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B3D15-3224-B816-A7E4-98F9F7136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25FE9DC8-75A4-E0EA-1383-2D759F4956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64041" y="-391208"/>
            <a:ext cx="12192000" cy="6857657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FCCF84A4-4A2C-8FD7-0AB1-B132AF88AF46}"/>
              </a:ext>
            </a:extLst>
          </p:cNvPr>
          <p:cNvSpPr txBox="1"/>
          <p:nvPr/>
        </p:nvSpPr>
        <p:spPr>
          <a:xfrm>
            <a:off x="1470702" y="339256"/>
            <a:ext cx="58679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bg1"/>
                </a:solidFill>
                <a:latin typeface="Gotham Black" pitchFamily="50" charset="0"/>
                <a:cs typeface="Gotham Black" pitchFamily="50" charset="0"/>
              </a:rPr>
              <a:t>Composition du projet</a:t>
            </a:r>
          </a:p>
        </p:txBody>
      </p: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E44A8AC6-E132-148F-6F5B-2652D1300D78}"/>
              </a:ext>
            </a:extLst>
          </p:cNvPr>
          <p:cNvCxnSpPr>
            <a:cxnSpLocks/>
          </p:cNvCxnSpPr>
          <p:nvPr/>
        </p:nvCxnSpPr>
        <p:spPr>
          <a:xfrm>
            <a:off x="0" y="653622"/>
            <a:ext cx="129018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AF6CEE9B-BEB8-B953-38EB-8493736094DE}"/>
              </a:ext>
            </a:extLst>
          </p:cNvPr>
          <p:cNvCxnSpPr>
            <a:cxnSpLocks/>
          </p:cNvCxnSpPr>
          <p:nvPr/>
        </p:nvCxnSpPr>
        <p:spPr>
          <a:xfrm>
            <a:off x="6807704" y="671214"/>
            <a:ext cx="466967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8" name="Cube 97">
            <a:extLst>
              <a:ext uri="{FF2B5EF4-FFF2-40B4-BE49-F238E27FC236}">
                <a16:creationId xmlns:a16="http://schemas.microsoft.com/office/drawing/2014/main" id="{20689A77-6D78-41BD-973E-12AC311BCDBA}"/>
              </a:ext>
            </a:extLst>
          </p:cNvPr>
          <p:cNvSpPr/>
          <p:nvPr/>
        </p:nvSpPr>
        <p:spPr>
          <a:xfrm>
            <a:off x="8017844" y="4634620"/>
            <a:ext cx="1694047" cy="1453415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" name="Cube 98">
            <a:extLst>
              <a:ext uri="{FF2B5EF4-FFF2-40B4-BE49-F238E27FC236}">
                <a16:creationId xmlns:a16="http://schemas.microsoft.com/office/drawing/2014/main" id="{0D7B2BBF-8F6E-4C9D-A55D-4897D654C365}"/>
              </a:ext>
            </a:extLst>
          </p:cNvPr>
          <p:cNvSpPr/>
          <p:nvPr/>
        </p:nvSpPr>
        <p:spPr>
          <a:xfrm>
            <a:off x="8017844" y="3465069"/>
            <a:ext cx="1694047" cy="1453415"/>
          </a:xfrm>
          <a:prstGeom prst="cub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" name="Cube 99">
            <a:extLst>
              <a:ext uri="{FF2B5EF4-FFF2-40B4-BE49-F238E27FC236}">
                <a16:creationId xmlns:a16="http://schemas.microsoft.com/office/drawing/2014/main" id="{954B6167-7EB5-4468-B329-15C386D3A38C}"/>
              </a:ext>
            </a:extLst>
          </p:cNvPr>
          <p:cNvSpPr/>
          <p:nvPr/>
        </p:nvSpPr>
        <p:spPr>
          <a:xfrm>
            <a:off x="8017844" y="2288692"/>
            <a:ext cx="1694047" cy="1453415"/>
          </a:xfrm>
          <a:prstGeom prst="cube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" name="Cube 100">
            <a:extLst>
              <a:ext uri="{FF2B5EF4-FFF2-40B4-BE49-F238E27FC236}">
                <a16:creationId xmlns:a16="http://schemas.microsoft.com/office/drawing/2014/main" id="{598D96B6-C39D-4335-AA8F-DED672A09A96}"/>
              </a:ext>
            </a:extLst>
          </p:cNvPr>
          <p:cNvSpPr/>
          <p:nvPr/>
        </p:nvSpPr>
        <p:spPr>
          <a:xfrm rot="1219549">
            <a:off x="8501768" y="954345"/>
            <a:ext cx="1694047" cy="1453415"/>
          </a:xfrm>
          <a:prstGeom prst="cub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2" name="TextBox 11">
            <a:extLst>
              <a:ext uri="{FF2B5EF4-FFF2-40B4-BE49-F238E27FC236}">
                <a16:creationId xmlns:a16="http://schemas.microsoft.com/office/drawing/2014/main" id="{FDA5F0D2-C2F8-42C7-8494-320DC4B849D0}"/>
              </a:ext>
            </a:extLst>
          </p:cNvPr>
          <p:cNvSpPr txBox="1"/>
          <p:nvPr/>
        </p:nvSpPr>
        <p:spPr>
          <a:xfrm rot="1381502">
            <a:off x="8661441" y="1235191"/>
            <a:ext cx="94853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0" b="1" noProof="0" dirty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P</a:t>
            </a:r>
            <a:endParaRPr kumimoji="0" lang="en-GB" sz="7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103" name="TextBox 12">
            <a:extLst>
              <a:ext uri="{FF2B5EF4-FFF2-40B4-BE49-F238E27FC236}">
                <a16:creationId xmlns:a16="http://schemas.microsoft.com/office/drawing/2014/main" id="{5BF59838-5533-433C-B1DE-A10B459C0886}"/>
              </a:ext>
            </a:extLst>
          </p:cNvPr>
          <p:cNvSpPr txBox="1"/>
          <p:nvPr/>
        </p:nvSpPr>
        <p:spPr>
          <a:xfrm>
            <a:off x="8209053" y="2543657"/>
            <a:ext cx="94853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0" b="1" dirty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A</a:t>
            </a:r>
            <a:endParaRPr kumimoji="0" lang="en-GB" sz="7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104" name="TextBox 14">
            <a:extLst>
              <a:ext uri="{FF2B5EF4-FFF2-40B4-BE49-F238E27FC236}">
                <a16:creationId xmlns:a16="http://schemas.microsoft.com/office/drawing/2014/main" id="{29BE865E-DBF5-4BE5-86AE-204F410E7E55}"/>
              </a:ext>
            </a:extLst>
          </p:cNvPr>
          <p:cNvSpPr txBox="1"/>
          <p:nvPr/>
        </p:nvSpPr>
        <p:spPr>
          <a:xfrm>
            <a:off x="8209053" y="3785290"/>
            <a:ext cx="94853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0" b="1" dirty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RG</a:t>
            </a:r>
            <a:endParaRPr kumimoji="0" lang="en-GB" sz="7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113" name="TextBox 25">
            <a:extLst>
              <a:ext uri="{FF2B5EF4-FFF2-40B4-BE49-F238E27FC236}">
                <a16:creationId xmlns:a16="http://schemas.microsoft.com/office/drawing/2014/main" id="{46913E0E-E251-420D-8CCE-E0C99D0BD520}"/>
              </a:ext>
            </a:extLst>
          </p:cNvPr>
          <p:cNvSpPr txBox="1"/>
          <p:nvPr/>
        </p:nvSpPr>
        <p:spPr>
          <a:xfrm>
            <a:off x="2075330" y="2641421"/>
            <a:ext cx="150955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  <a:cs typeface="+mn-cs"/>
              </a:rPr>
              <a:t>Votre texte ici</a:t>
            </a:r>
          </a:p>
        </p:txBody>
      </p:sp>
      <p:sp>
        <p:nvSpPr>
          <p:cNvPr id="115" name="TextBox 27">
            <a:extLst>
              <a:ext uri="{FF2B5EF4-FFF2-40B4-BE49-F238E27FC236}">
                <a16:creationId xmlns:a16="http://schemas.microsoft.com/office/drawing/2014/main" id="{73924269-2F05-4AF1-AA1D-24BB12D23DCC}"/>
              </a:ext>
            </a:extLst>
          </p:cNvPr>
          <p:cNvSpPr txBox="1"/>
          <p:nvPr/>
        </p:nvSpPr>
        <p:spPr>
          <a:xfrm>
            <a:off x="5004641" y="2656731"/>
            <a:ext cx="150955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  <a:cs typeface="+mn-cs"/>
              </a:rPr>
              <a:t>Votre texte ici</a:t>
            </a:r>
          </a:p>
        </p:txBody>
      </p:sp>
      <p:sp>
        <p:nvSpPr>
          <p:cNvPr id="118" name="Cube 117">
            <a:extLst>
              <a:ext uri="{FF2B5EF4-FFF2-40B4-BE49-F238E27FC236}">
                <a16:creationId xmlns:a16="http://schemas.microsoft.com/office/drawing/2014/main" id="{20689A77-6D78-41BD-973E-12AC311BCDBA}"/>
              </a:ext>
            </a:extLst>
          </p:cNvPr>
          <p:cNvSpPr/>
          <p:nvPr/>
        </p:nvSpPr>
        <p:spPr>
          <a:xfrm>
            <a:off x="9389822" y="4598717"/>
            <a:ext cx="1694047" cy="1453415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0" b="1" dirty="0">
                <a:solidFill>
                  <a:srgbClr val="FFFFFF"/>
                </a:solidFill>
                <a:latin typeface="Noto Sans" panose="020B0502040504020204"/>
              </a:rPr>
              <a:t>E</a:t>
            </a:r>
            <a:endParaRPr kumimoji="0" lang="en-US" sz="7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/>
            </a:endParaRPr>
          </a:p>
        </p:txBody>
      </p:sp>
      <p:sp>
        <p:nvSpPr>
          <p:cNvPr id="119" name="Cube 118">
            <a:extLst>
              <a:ext uri="{FF2B5EF4-FFF2-40B4-BE49-F238E27FC236}">
                <a16:creationId xmlns:a16="http://schemas.microsoft.com/office/drawing/2014/main" id="{20689A77-6D78-41BD-973E-12AC311BCDBA}"/>
              </a:ext>
            </a:extLst>
          </p:cNvPr>
          <p:cNvSpPr/>
          <p:nvPr/>
        </p:nvSpPr>
        <p:spPr>
          <a:xfrm>
            <a:off x="10665260" y="4600976"/>
            <a:ext cx="1515454" cy="1453415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0" b="1" dirty="0">
                <a:solidFill>
                  <a:srgbClr val="FFFFFF"/>
                </a:solidFill>
                <a:latin typeface="Noto Sans" panose="020B0502040504020204"/>
              </a:rPr>
              <a:t>Q</a:t>
            </a:r>
            <a:endParaRPr kumimoji="0" lang="en-US" sz="7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903" y="1216805"/>
            <a:ext cx="1585259" cy="142461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20" name="Zone de texte 13"/>
          <p:cNvSpPr txBox="1"/>
          <p:nvPr/>
        </p:nvSpPr>
        <p:spPr>
          <a:xfrm>
            <a:off x="3850525" y="5487527"/>
            <a:ext cx="4028867" cy="885471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6000"/>
              </a:lnSpc>
              <a:spcAft>
                <a:spcPts val="800"/>
              </a:spcAft>
            </a:pPr>
            <a:r>
              <a:rPr lang="fr-FR" b="1" kern="100" dirty="0">
                <a:effectLst/>
                <a:latin typeface="Trebuchet MS" panose="020B0603020202020204" pitchFamily="34" charset="0"/>
                <a:ea typeface="Aptos"/>
                <a:cs typeface="Times New Roman" panose="02020603050405020304" pitchFamily="18" charset="0"/>
              </a:rPr>
              <a:t>Assistant suivi-évaluation</a:t>
            </a:r>
          </a:p>
          <a:p>
            <a:pPr algn="ctr">
              <a:lnSpc>
                <a:spcPct val="106000"/>
              </a:lnSpc>
              <a:spcAft>
                <a:spcPts val="800"/>
              </a:spcAft>
            </a:pPr>
            <a:r>
              <a:rPr lang="fr-FR" kern="100" dirty="0">
                <a:effectLst/>
                <a:latin typeface="Trebuchet MS" panose="020B0603020202020204" pitchFamily="34" charset="0"/>
                <a:ea typeface="Aptos"/>
                <a:cs typeface="Times New Roman" panose="02020603050405020304" pitchFamily="18" charset="0"/>
              </a:rPr>
              <a:t>M. </a:t>
            </a:r>
            <a:r>
              <a:rPr lang="fr-FR" kern="100" dirty="0" err="1">
                <a:effectLst/>
                <a:latin typeface="Trebuchet MS" panose="020B0603020202020204" pitchFamily="34" charset="0"/>
                <a:ea typeface="Aptos"/>
                <a:cs typeface="Times New Roman" panose="02020603050405020304" pitchFamily="18" charset="0"/>
              </a:rPr>
              <a:t>Cowiyou</a:t>
            </a:r>
            <a:r>
              <a:rPr lang="fr-FR" kern="100" dirty="0">
                <a:effectLst/>
                <a:latin typeface="Trebuchet MS" panose="020B0603020202020204" pitchFamily="34" charset="0"/>
                <a:ea typeface="Aptos"/>
                <a:cs typeface="Times New Roman" panose="02020603050405020304" pitchFamily="18" charset="0"/>
              </a:rPr>
              <a:t> GOLE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45863" y="2694286"/>
            <a:ext cx="2127505" cy="7821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6000"/>
              </a:lnSpc>
              <a:spcAft>
                <a:spcPts val="800"/>
              </a:spcAft>
            </a:pPr>
            <a:r>
              <a:rPr lang="fr-FR" b="1" kern="100" dirty="0">
                <a:effectLst/>
                <a:latin typeface="Trebuchet MS" panose="020B0603020202020204" pitchFamily="34" charset="0"/>
                <a:ea typeface="Aptos"/>
                <a:cs typeface="Times New Roman" panose="02020603050405020304" pitchFamily="18" charset="0"/>
              </a:rPr>
              <a:t>Point focal </a:t>
            </a:r>
          </a:p>
          <a:p>
            <a:pPr algn="ctr">
              <a:lnSpc>
                <a:spcPct val="106000"/>
              </a:lnSpc>
              <a:spcAft>
                <a:spcPts val="800"/>
              </a:spcAft>
            </a:pPr>
            <a:r>
              <a:rPr lang="fr-FR" kern="100" dirty="0">
                <a:effectLst/>
                <a:latin typeface="Trebuchet MS" panose="020B0603020202020204" pitchFamily="34" charset="0"/>
                <a:ea typeface="Aptos"/>
                <a:cs typeface="Times New Roman" panose="02020603050405020304" pitchFamily="18" charset="0"/>
              </a:rPr>
              <a:t>M. BELLO </a:t>
            </a:r>
            <a:r>
              <a:rPr lang="fr-FR" kern="100" dirty="0" err="1">
                <a:effectLst/>
                <a:latin typeface="Trebuchet MS" panose="020B0603020202020204" pitchFamily="34" charset="0"/>
                <a:ea typeface="Aptos"/>
                <a:cs typeface="Times New Roman" panose="02020603050405020304" pitchFamily="18" charset="0"/>
              </a:rPr>
              <a:t>Camarou</a:t>
            </a:r>
            <a:endParaRPr lang="fr-FR" kern="100" dirty="0">
              <a:effectLst/>
              <a:latin typeface="Trebuchet MS" panose="020B0603020202020204" pitchFamily="34" charset="0"/>
              <a:ea typeface="Aptos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28848" y="2698350"/>
            <a:ext cx="3998620" cy="782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6000"/>
              </a:lnSpc>
              <a:spcAft>
                <a:spcPts val="800"/>
              </a:spcAft>
            </a:pPr>
            <a:r>
              <a:rPr lang="fr-FR" b="1" kern="100" dirty="0">
                <a:effectLst/>
                <a:latin typeface="Trebuchet MS" panose="020B0603020202020204" pitchFamily="34" charset="0"/>
                <a:ea typeface="Aptos"/>
                <a:cs typeface="Times New Roman" panose="02020603050405020304" pitchFamily="18" charset="0"/>
              </a:rPr>
              <a:t>Responsable Financier </a:t>
            </a:r>
          </a:p>
          <a:p>
            <a:pPr algn="ctr">
              <a:lnSpc>
                <a:spcPct val="106000"/>
              </a:lnSpc>
              <a:spcAft>
                <a:spcPts val="800"/>
              </a:spcAft>
            </a:pPr>
            <a:r>
              <a:rPr lang="fr-FR" kern="100" dirty="0">
                <a:effectLst/>
                <a:latin typeface="Trebuchet MS" panose="020B0603020202020204" pitchFamily="34" charset="0"/>
                <a:ea typeface="Aptos"/>
                <a:cs typeface="Times New Roman" panose="02020603050405020304" pitchFamily="18" charset="0"/>
              </a:rPr>
              <a:t>M. ALTINE DIALLO Abdoul Malik</a:t>
            </a:r>
          </a:p>
        </p:txBody>
      </p:sp>
      <p:sp>
        <p:nvSpPr>
          <p:cNvPr id="6" name="Rectangle 5"/>
          <p:cNvSpPr/>
          <p:nvPr/>
        </p:nvSpPr>
        <p:spPr>
          <a:xfrm>
            <a:off x="1340670" y="5514265"/>
            <a:ext cx="1700209" cy="7821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6000"/>
              </a:lnSpc>
              <a:spcAft>
                <a:spcPts val="800"/>
              </a:spcAft>
            </a:pPr>
            <a:r>
              <a:rPr lang="fr-FR" b="1" kern="100" dirty="0">
                <a:effectLst/>
                <a:latin typeface="Trebuchet MS" panose="020B0603020202020204" pitchFamily="34" charset="0"/>
                <a:ea typeface="Aptos"/>
                <a:cs typeface="Times New Roman" panose="02020603050405020304" pitchFamily="18" charset="0"/>
              </a:rPr>
              <a:t>Chef projet </a:t>
            </a:r>
          </a:p>
          <a:p>
            <a:pPr algn="ctr">
              <a:lnSpc>
                <a:spcPct val="106000"/>
              </a:lnSpc>
              <a:spcAft>
                <a:spcPts val="800"/>
              </a:spcAft>
            </a:pPr>
            <a:r>
              <a:rPr lang="fr-FR" kern="100" dirty="0">
                <a:effectLst/>
                <a:latin typeface="Trebuchet MS" panose="020B0603020202020204" pitchFamily="34" charset="0"/>
                <a:ea typeface="Aptos"/>
                <a:cs typeface="Times New Roman" panose="02020603050405020304" pitchFamily="18" charset="0"/>
              </a:rPr>
              <a:t>M. Gad FAYOMI</a:t>
            </a:r>
          </a:p>
        </p:txBody>
      </p:sp>
      <p:sp>
        <p:nvSpPr>
          <p:cNvPr id="125" name="Ellipse 124"/>
          <p:cNvSpPr/>
          <p:nvPr/>
        </p:nvSpPr>
        <p:spPr>
          <a:xfrm>
            <a:off x="5088533" y="2198077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7" name="Image 12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4252" y="1126605"/>
            <a:ext cx="1419760" cy="155708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28" name="Image 12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1880" y="3814600"/>
            <a:ext cx="1530014" cy="161472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30" name="Image 12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2869" y="3738522"/>
            <a:ext cx="1491311" cy="162280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82645449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307</Words>
  <Application>Microsoft Office PowerPoint</Application>
  <PresentationFormat>Grand écran</PresentationFormat>
  <Paragraphs>112</Paragraphs>
  <Slides>7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7" baseType="lpstr">
      <vt:lpstr> Arial ,sans-serif</vt:lpstr>
      <vt:lpstr>Arial</vt:lpstr>
      <vt:lpstr>Calibri</vt:lpstr>
      <vt:lpstr>Calibri Light</vt:lpstr>
      <vt:lpstr>Gotham Black</vt:lpstr>
      <vt:lpstr>Gotham Book</vt:lpstr>
      <vt:lpstr>Noto Sans</vt:lpstr>
      <vt:lpstr>Open Sans</vt:lpstr>
      <vt:lpstr>Trebuchet MS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Adéyèmi FAYOMI</dc:creator>
  <cp:lastModifiedBy>Adéyèmi FAYOMI</cp:lastModifiedBy>
  <cp:revision>2</cp:revision>
  <dcterms:created xsi:type="dcterms:W3CDTF">2026-03-10T15:30:55Z</dcterms:created>
  <dcterms:modified xsi:type="dcterms:W3CDTF">2026-03-10T15:50:34Z</dcterms:modified>
</cp:coreProperties>
</file>